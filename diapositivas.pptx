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1695" cy="6858000"/>
  <p:notesSz cx="6858000" cy="9144000"/>
  <p:defaultTextStyle>
    <a:defPPr>
      <a:defRPr lang="es-CO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ndo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Fondo2 4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6407F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5" name="Texto 5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300" b="1" dirty="0">
                <a:solidFill>
                  <a:srgbClr val="9FC5E8"/>
                </a:solidFill>
              </a:rPr>
              <a:t>SISTEMAS DE POSICIONAMIENTO GEODÉSICO · EJERCICIO No. 3</a:t>
            </a:r>
            <a:endParaRPr lang="es-CO" sz="1300" dirty="0"/>
          </a:p>
        </p:txBody>
      </p:sp>
      <p:sp>
        <p:nvSpPr>
          <p:cNvPr id="6" name="Texto 6"/>
          <p:cNvSpPr/>
          <p:nvPr/>
        </p:nvSpPr>
        <p:spPr>
          <a:xfrm>
            <a:off x="822960" y="164592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5400" b="1" dirty="0">
                <a:solidFill>
                  <a:srgbClr val="FFFFFF"/>
                </a:solidFill>
              </a:rPr>
              <a:t>QGeoidCOL2023</a:t>
            </a:r>
            <a:endParaRPr lang="es-CO" sz="5400" dirty="0"/>
          </a:p>
        </p:txBody>
      </p:sp>
      <p:sp>
        <p:nvSpPr>
          <p:cNvPr id="7" name="Texto 7"/>
          <p:cNvSpPr/>
          <p:nvPr/>
        </p:nvSpPr>
        <p:spPr>
          <a:xfrm>
            <a:off x="822960" y="260604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2200" b="0" dirty="0">
                <a:solidFill>
                  <a:srgbClr val="D6E4F0"/>
                </a:solidFill>
              </a:rPr>
              <a:t>Interpolación de ζ, determinación de la altura normal y modelo paramétrico frente a la Red Nacional de Nivelación</a:t>
            </a:r>
            <a:endParaRPr lang="es-CO" sz="2200" dirty="0"/>
          </a:p>
        </p:txBody>
      </p:sp>
      <p:sp>
        <p:nvSpPr>
          <p:cNvPr id="8" name="Línea 8"/>
          <p:cNvSpPr/>
          <p:nvPr/>
        </p:nvSpPr>
        <p:spPr>
          <a:xfrm>
            <a:off x="822960" y="3703320"/>
            <a:ext cx="1188720" cy="54864"/>
          </a:xfrm>
          <a:prstGeom prst="rect">
            <a:avLst/>
          </a:prstGeom>
          <a:solidFill>
            <a:srgbClr val="9FC5E8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Texto 9"/>
          <p:cNvSpPr/>
          <p:nvPr/>
        </p:nvSpPr>
        <p:spPr>
          <a:xfrm>
            <a:off x="822960" y="397764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800" b="1" dirty="0">
                <a:solidFill>
                  <a:srgbClr val="E8EEF4"/>
                </a:solidFill>
              </a:rPr>
              <a:t>Grupo 2:</a:t>
            </a:r>
            <a:r>
              <a:rPr lang="es-CO" sz="1800" b="0" dirty="0">
                <a:solidFill>
                  <a:srgbClr val="E8EEF4"/>
                </a:solidFill>
              </a:rPr>
              <a:t> A. T. Díaz · J. S. López · N. L. Rodríguez · A. A. Daza</a:t>
            </a:r>
            <a:endParaRPr lang="es-CO" sz="1800" dirty="0"/>
          </a:p>
          <a:p>
            <a:pPr algn="l">
              <a:spcBef>
                <a:spcPts val="800"/>
              </a:spcBef>
              <a:buNone/>
            </a:pPr>
            <a:r>
              <a:rPr lang="es-CO" sz="1800" b="1" dirty="0">
                <a:solidFill>
                  <a:srgbClr val="E8EEF4"/>
                </a:solidFill>
              </a:rPr>
              <a:t>Docente:</a:t>
            </a:r>
            <a:r>
              <a:rPr lang="es-CO" sz="1800" b="0" dirty="0">
                <a:solidFill>
                  <a:srgbClr val="E8EEF4"/>
                </a:solidFill>
              </a:rPr>
              <a:t> John Alexander Orduña Díaz</a:t>
            </a:r>
            <a:endParaRPr lang="es-CO" sz="1800" dirty="0"/>
          </a:p>
          <a:p>
            <a:pPr algn="l">
              <a:spcBef>
                <a:spcPts val="1200"/>
              </a:spcBef>
              <a:buNone/>
            </a:pPr>
            <a:r>
              <a:rPr lang="es-CO" sz="1500" b="0" dirty="0">
                <a:solidFill>
                  <a:srgbClr val="E8EEF4"/>
                </a:solidFill>
              </a:rPr>
              <a:t>Maestría en Ciencias de la Información y las Comunicaciones — Énfasis en Geomática · 2026-3</a:t>
            </a:r>
            <a:endParaRPr lang="es-CO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01 · MARCO CONCEPTUAL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Superficies de referencia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Tres superficies, tres alturas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2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5408676" cy="2148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2148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10"/>
          <p:cNvSpPr/>
          <p:nvPr/>
        </p:nvSpPr>
        <p:spPr>
          <a:xfrm>
            <a:off x="749808" y="1764792"/>
            <a:ext cx="5134356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950" b="1" dirty="0">
                <a:solidFill>
                  <a:srgbClr val="2E75B6"/>
                </a:solidFill>
              </a:rPr>
              <a:t>RELACIÓN ENTRE ALTURAS</a:t>
            </a:r>
            <a:endParaRPr lang="es-CO" sz="950" dirty="0"/>
          </a:p>
        </p:txBody>
      </p:sp>
      <p:sp>
        <p:nvSpPr>
          <p:cNvPr id="11" name="Ecuación 11"/>
          <p:cNvSpPr/>
          <p:nvPr/>
        </p:nvSpPr>
        <p:spPr>
          <a:xfrm>
            <a:off x="822960" y="2039112"/>
            <a:ext cx="4905756" cy="50292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20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h = H + N = H</a:t>
            </a:r>
            <a:r>
              <a:rPr lang="es-CO" sz="2000" b="0" dirty="0" baseline="3000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lang="es-CO" sz="20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 + ζ</a:t>
            </a:r>
            <a:endParaRPr lang="es-CO" sz="2000" dirty="0"/>
          </a:p>
        </p:txBody>
      </p:sp>
      <p:sp>
        <p:nvSpPr>
          <p:cNvPr id="12" name="Texto tarjeta 12"/>
          <p:cNvSpPr/>
          <p:nvPr/>
        </p:nvSpPr>
        <p:spPr>
          <a:xfrm>
            <a:off x="640080" y="2587752"/>
            <a:ext cx="5317236" cy="12344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36576" rIns="109728" bIns="36576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La altura elipsoidal </a:t>
            </a:r>
            <a:r>
              <a:rPr lang="es-CO" sz="1500" b="1" dirty="0">
                <a:solidFill>
                  <a:srgbClr val="1B2631"/>
                </a:solidFill>
              </a:rPr>
              <a:t>h</a:t>
            </a:r>
            <a:r>
              <a:rPr lang="es-CO" sz="1500" b="0" dirty="0">
                <a:solidFill>
                  <a:srgbClr val="1B2631"/>
                </a:solidFill>
              </a:rPr>
              <a:t> (GNSS) se convierte en altura normal </a:t>
            </a:r>
            <a:r>
              <a:rPr lang="es-CO" sz="1500" b="1" dirty="0">
                <a:solidFill>
                  <a:srgbClr val="1B2631"/>
                </a:solidFill>
              </a:rPr>
              <a:t>H</a:t>
            </a:r>
            <a:r>
              <a:rPr lang="es-CO" sz="1500" b="1" dirty="0" baseline="30000">
                <a:solidFill>
                  <a:srgbClr val="1B2631"/>
                </a:solidFill>
              </a:rPr>
              <a:t>N</a:t>
            </a:r>
            <a:r>
              <a:rPr lang="es-CO" sz="1500" b="1" dirty="0">
                <a:solidFill>
                  <a:srgbClr val="1B2631"/>
                </a:solidFill>
              </a:rPr>
              <a:t> = h − ζ</a:t>
            </a:r>
            <a:r>
              <a:rPr lang="es-CO" sz="1500" b="0" dirty="0">
                <a:solidFill>
                  <a:srgbClr val="1B2631"/>
                </a:solidFill>
              </a:rPr>
              <a:t> con la anomalía de altura ζ del cuasigeoide.</a:t>
            </a:r>
            <a:endParaRPr lang="es-CO" sz="1500" dirty="0"/>
          </a:p>
        </p:txBody>
      </p:sp>
      <p:sp>
        <p:nvSpPr>
          <p:cNvPr id="13" name="Tarjeta 13"/>
          <p:cNvSpPr/>
          <p:nvPr/>
        </p:nvSpPr>
        <p:spPr>
          <a:xfrm>
            <a:off x="548640" y="4023360"/>
            <a:ext cx="5408676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4" name="Acento 14"/>
          <p:cNvSpPr/>
          <p:nvPr/>
        </p:nvSpPr>
        <p:spPr>
          <a:xfrm>
            <a:off x="548640" y="4023360"/>
            <a:ext cx="64008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Texto 15"/>
          <p:cNvSpPr/>
          <p:nvPr/>
        </p:nvSpPr>
        <p:spPr>
          <a:xfrm>
            <a:off x="749808" y="4096512"/>
            <a:ext cx="5134356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950" b="1" dirty="0">
                <a:solidFill>
                  <a:srgbClr val="2E75B6"/>
                </a:solidFill>
              </a:rPr>
              <a:t>GEOIDE VS. CUASIGEOIDE</a:t>
            </a:r>
            <a:endParaRPr lang="es-CO" sz="950" dirty="0"/>
          </a:p>
        </p:txBody>
      </p:sp>
      <p:sp>
        <p:nvSpPr>
          <p:cNvPr id="16" name="Ecuación 16"/>
          <p:cNvSpPr/>
          <p:nvPr/>
        </p:nvSpPr>
        <p:spPr>
          <a:xfrm>
            <a:off x="822960" y="4370832"/>
            <a:ext cx="4905756" cy="50292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20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N − ζ ≈ (Δg</a:t>
            </a:r>
            <a:r>
              <a:rPr lang="es-CO" sz="2000" b="0" dirty="0" baseline="-2500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lang="es-CO" sz="20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 / γ̄) · H</a:t>
            </a:r>
            <a:endParaRPr lang="es-CO" sz="2000" dirty="0"/>
          </a:p>
        </p:txBody>
      </p:sp>
      <p:sp>
        <p:nvSpPr>
          <p:cNvPr id="17" name="Texto tarjeta 17"/>
          <p:cNvSpPr/>
          <p:nvPr/>
        </p:nvSpPr>
        <p:spPr>
          <a:xfrm>
            <a:off x="640080" y="4919472"/>
            <a:ext cx="5317236" cy="1371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36576" rIns="109728" bIns="36576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Depende de la anomalía de Bouguer y de la altura: milímetros en zonas bajas, decímetros en montaña. </a:t>
            </a:r>
            <a:r>
              <a:rPr lang="es-CO" sz="1500" b="1" dirty="0">
                <a:solidFill>
                  <a:srgbClr val="1B2631"/>
                </a:solidFill>
              </a:rPr>
              <a:t>N y ζ no son intercambiables.</a:t>
            </a:r>
            <a:endParaRPr lang="es-CO" sz="1500" dirty="0"/>
          </a:p>
        </p:txBody>
      </p:sp>
      <p:sp>
        <p:nvSpPr>
          <p:cNvPr id="18" name="Tarjeta 18"/>
          <p:cNvSpPr/>
          <p:nvPr/>
        </p:nvSpPr>
        <p:spPr>
          <a:xfrm>
            <a:off x="6231636" y="1691640"/>
            <a:ext cx="5408676" cy="1234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9" name="Acento 19"/>
          <p:cNvSpPr/>
          <p:nvPr/>
        </p:nvSpPr>
        <p:spPr>
          <a:xfrm>
            <a:off x="6231636" y="1691640"/>
            <a:ext cx="64008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0" name="Texto tarjeta 20"/>
          <p:cNvSpPr/>
          <p:nvPr/>
        </p:nvSpPr>
        <p:spPr>
          <a:xfrm>
            <a:off x="6323076" y="1691640"/>
            <a:ext cx="5317236" cy="12344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SISTEMA IHRS / GRS80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QGeoidCOL2023 está referido al IHRS con W</a:t>
            </a:r>
            <a:r>
              <a:rPr lang="es-CO" sz="1400" b="0" dirty="0" baseline="-25000">
                <a:solidFill>
                  <a:srgbClr val="1B2631"/>
                </a:solidFill>
              </a:rPr>
              <a:t>0</a:t>
            </a:r>
            <a:r>
              <a:rPr lang="es-CO" sz="1400" b="0" dirty="0">
                <a:solidFill>
                  <a:srgbClr val="1B2631"/>
                </a:solidFill>
              </a:rPr>
              <a:t> = 62 636 853,4 m²/s², en el sistema de </a:t>
            </a:r>
            <a:r>
              <a:rPr lang="es-CO" sz="1400" b="1" dirty="0">
                <a:solidFill>
                  <a:srgbClr val="1B2631"/>
                </a:solidFill>
              </a:rPr>
              <a:t>marea cero</a:t>
            </a:r>
            <a:r>
              <a:rPr lang="es-CO" sz="1400" b="0" dirty="0">
                <a:solidFill>
                  <a:srgbClr val="1B2631"/>
                </a:solidFill>
              </a:rPr>
              <a:t>.</a:t>
            </a:r>
            <a:endParaRPr lang="es-CO" sz="1400" dirty="0"/>
          </a:p>
        </p:txBody>
      </p:sp>
      <p:sp>
        <p:nvSpPr>
          <p:cNvPr id="21" name="Pantallazo 21"/>
          <p:cNvSpPr/>
          <p:nvPr/>
        </p:nvSpPr>
        <p:spPr>
          <a:xfrm>
            <a:off x="6231636" y="3108960"/>
            <a:ext cx="5408676" cy="320040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esquema elipsoide – geoide – cuasigeoide (opcional) ]</a:t>
            </a:r>
            <a:endParaRPr lang="es-CO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02 · DATOS Y VALIDACIÓN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Malla 100 % validada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Estructura y control de calidad de QGeoidCOL2023 (cargarYValidarMalla)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3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2468880" cy="1143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tarjeta 10"/>
          <p:cNvSpPr/>
          <p:nvPr/>
        </p:nvSpPr>
        <p:spPr>
          <a:xfrm>
            <a:off x="640080" y="1691640"/>
            <a:ext cx="2377440" cy="11430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600" b="1" dirty="0">
                <a:solidFill>
                  <a:srgbClr val="002060"/>
                </a:solidFill>
              </a:rPr>
              <a:t>32 224</a:t>
            </a:r>
            <a:endParaRPr lang="es-CO" sz="3600" dirty="0"/>
          </a:p>
          <a:p>
            <a:pPr algn="l">
              <a:spcBef>
                <a:spcPts val="400"/>
              </a:spcBef>
              <a:buNone/>
            </a:pPr>
            <a:r>
              <a:rPr lang="es-CO" sz="1300" b="0" dirty="0">
                <a:solidFill>
                  <a:srgbClr val="5F6B7A"/>
                </a:solidFill>
              </a:rPr>
              <a:t>nodos · 212 × 152</a:t>
            </a:r>
            <a:endParaRPr lang="es-CO" sz="1300" dirty="0"/>
          </a:p>
        </p:txBody>
      </p:sp>
      <p:sp>
        <p:nvSpPr>
          <p:cNvPr id="11" name="Tarjeta 11"/>
          <p:cNvSpPr/>
          <p:nvPr/>
        </p:nvSpPr>
        <p:spPr>
          <a:xfrm>
            <a:off x="3200400" y="1691640"/>
            <a:ext cx="2468880" cy="1143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2" name="Acento 12"/>
          <p:cNvSpPr/>
          <p:nvPr/>
        </p:nvSpPr>
        <p:spPr>
          <a:xfrm>
            <a:off x="3200400" y="1691640"/>
            <a:ext cx="64008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Texto tarjeta 13"/>
          <p:cNvSpPr/>
          <p:nvPr/>
        </p:nvSpPr>
        <p:spPr>
          <a:xfrm>
            <a:off x="3291840" y="1691640"/>
            <a:ext cx="2377440" cy="11430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600" b="1" dirty="0">
                <a:solidFill>
                  <a:srgbClr val="002060"/>
                </a:solidFill>
              </a:rPr>
              <a:t>5′</a:t>
            </a:r>
            <a:endParaRPr lang="es-CO" sz="3600" dirty="0"/>
          </a:p>
          <a:p>
            <a:pPr algn="l">
              <a:spcBef>
                <a:spcPts val="400"/>
              </a:spcBef>
              <a:buNone/>
            </a:pPr>
            <a:r>
              <a:rPr lang="es-CO" sz="1300" b="0" dirty="0">
                <a:solidFill>
                  <a:srgbClr val="5F6B7A"/>
                </a:solidFill>
              </a:rPr>
              <a:t>≈ 9,2 km de resolución</a:t>
            </a:r>
            <a:endParaRPr lang="es-CO" sz="1300" dirty="0"/>
          </a:p>
        </p:txBody>
      </p:sp>
      <p:sp>
        <p:nvSpPr>
          <p:cNvPr id="14" name="Tarjeta 14"/>
          <p:cNvSpPr/>
          <p:nvPr/>
        </p:nvSpPr>
        <p:spPr>
          <a:xfrm>
            <a:off x="548640" y="3017520"/>
            <a:ext cx="5120640" cy="3291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Acento 15"/>
          <p:cNvSpPr/>
          <p:nvPr/>
        </p:nvSpPr>
        <p:spPr>
          <a:xfrm>
            <a:off x="548640" y="3017520"/>
            <a:ext cx="64008" cy="3291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6" name="Texto tarjeta 16"/>
          <p:cNvSpPr/>
          <p:nvPr/>
        </p:nvSpPr>
        <p:spPr>
          <a:xfrm>
            <a:off x="640080" y="3017520"/>
            <a:ext cx="5029200" cy="32918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CONTROLES DE CALIDAD</a:t>
            </a:r>
            <a:endParaRPr lang="es-CO" sz="1100" dirty="0"/>
          </a:p>
          <a:p>
            <a:pPr algn="l" marL="228600" indent="-228600">
              <a:spcBef>
                <a:spcPts val="400"/>
              </a:spcBef>
              <a:buFont typeface="Arial"/>
              <a:buChar char="•"/>
            </a:pPr>
            <a:r>
              <a:rPr lang="es-CO" sz="1500" b="1" dirty="0">
                <a:solidFill>
                  <a:srgbClr val="1B2631"/>
                </a:solidFill>
              </a:rPr>
              <a:t>Integridad:</a:t>
            </a:r>
            <a:r>
              <a:rPr lang="es-CO" sz="1500" b="0" dirty="0">
                <a:solidFill>
                  <a:srgbClr val="1B2631"/>
                </a:solidFill>
              </a:rPr>
              <a:t> 0 líneas no numéricas, 0 valores Inf o NaN.</a:t>
            </a:r>
            <a:endParaRPr lang="es-CO" sz="1500" dirty="0"/>
          </a:p>
          <a:p>
            <a:pPr algn="l" marL="228600" indent="-228600">
              <a:spcBef>
                <a:spcPts val="400"/>
              </a:spcBef>
              <a:buFont typeface="Arial"/>
              <a:buChar char="•"/>
            </a:pPr>
            <a:r>
              <a:rPr lang="es-CO" sz="1500" b="1" dirty="0">
                <a:solidFill>
                  <a:srgbClr val="1B2631"/>
                </a:solidFill>
              </a:rPr>
              <a:t>Duplicados y faltantes:</a:t>
            </a:r>
            <a:r>
              <a:rPr lang="es-CO" sz="1500" b="0" dirty="0">
                <a:solidFill>
                  <a:srgbClr val="1B2631"/>
                </a:solidFill>
              </a:rPr>
              <a:t> ninguno; malla rectangular completa.</a:t>
            </a:r>
            <a:endParaRPr lang="es-CO" sz="1500" dirty="0"/>
          </a:p>
          <a:p>
            <a:pPr algn="l" marL="228600" indent="-228600">
              <a:spcBef>
                <a:spcPts val="400"/>
              </a:spcBef>
              <a:buFont typeface="Arial"/>
              <a:buChar char="•"/>
            </a:pPr>
            <a:r>
              <a:rPr lang="es-CO" sz="1500" b="1" dirty="0">
                <a:solidFill>
                  <a:srgbClr val="1B2631"/>
                </a:solidFill>
              </a:rPr>
              <a:t>Regularidad del paso:</a:t>
            </a:r>
            <a:r>
              <a:rPr lang="es-CO" sz="1500" b="0" dirty="0">
                <a:solidFill>
                  <a:srgbClr val="1B2631"/>
                </a:solidFill>
              </a:rPr>
              <a:t> desviación máx. 2,2×10</a:t>
            </a:r>
            <a:r>
              <a:rPr lang="es-CO" sz="1500" b="0" dirty="0" baseline="30000">
                <a:solidFill>
                  <a:srgbClr val="1B2631"/>
                </a:solidFill>
              </a:rPr>
              <a:t>−15</a:t>
            </a:r>
            <a:r>
              <a:rPr lang="es-CO" sz="1500" b="0" dirty="0">
                <a:solidFill>
                  <a:srgbClr val="1B2631"/>
                </a:solidFill>
              </a:rPr>
              <a:t>° (lat) y 2,8×10</a:t>
            </a:r>
            <a:r>
              <a:rPr lang="es-CO" sz="1500" b="0" dirty="0" baseline="30000">
                <a:solidFill>
                  <a:srgbClr val="1B2631"/>
                </a:solidFill>
              </a:rPr>
              <a:t>−14</a:t>
            </a:r>
            <a:r>
              <a:rPr lang="es-CO" sz="1500" b="0" dirty="0">
                <a:solidFill>
                  <a:srgbClr val="1B2631"/>
                </a:solidFill>
              </a:rPr>
              <a:t>° (lon).</a:t>
            </a:r>
            <a:endParaRPr lang="es-CO" sz="1500" dirty="0"/>
          </a:p>
          <a:p>
            <a:pPr algn="l" marL="228600" indent="-228600">
              <a:spcBef>
                <a:spcPts val="400"/>
              </a:spcBef>
              <a:buFont typeface="Arial"/>
              <a:buChar char="•"/>
            </a:pPr>
            <a:r>
              <a:rPr lang="es-CO" sz="1500" b="1" dirty="0">
                <a:solidFill>
                  <a:srgbClr val="1B2631"/>
                </a:solidFill>
              </a:rPr>
              <a:t>Cobertura:</a:t>
            </a:r>
            <a:r>
              <a:rPr lang="es-CO" sz="1500" b="0" dirty="0">
                <a:solidFill>
                  <a:srgbClr val="1B2631"/>
                </a:solidFill>
              </a:rPr>
              <a:t> 4,78° S a 12,80° N; 79,30° W a 66,72° W.</a:t>
            </a:r>
            <a:endParaRPr lang="es-CO" sz="1500" dirty="0"/>
          </a:p>
          <a:p>
            <a:pPr algn="l" marL="228600" indent="-228600">
              <a:spcBef>
                <a:spcPts val="400"/>
              </a:spcBef>
              <a:buFont typeface="Arial"/>
              <a:buChar char="•"/>
            </a:pPr>
            <a:r>
              <a:rPr lang="es-CO" sz="1500" b="1" dirty="0">
                <a:solidFill>
                  <a:srgbClr val="1B2631"/>
                </a:solidFill>
              </a:rPr>
              <a:t>ζ:</a:t>
            </a:r>
            <a:r>
              <a:rPr lang="es-CO" sz="1500" b="0" dirty="0">
                <a:solidFill>
                  <a:srgbClr val="1B2631"/>
                </a:solidFill>
              </a:rPr>
              <a:t> de −40 m a +33 m; media 6,93 m; desv. 13,69 m.</a:t>
            </a:r>
            <a:endParaRPr lang="es-CO" sz="1500" dirty="0"/>
          </a:p>
        </p:txBody>
      </p:sp>
      <p:sp>
        <p:nvSpPr>
          <p:cNvPr id="17" name="Pantallazo 17"/>
          <p:cNvSpPr/>
          <p:nvPr/>
        </p:nvSpPr>
        <p:spPr>
          <a:xfrm>
            <a:off x="5943600" y="1691640"/>
            <a:ext cx="5696712" cy="466344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1 del informe (malla QGeoidCOL2023 e histograma de ζ) ]</a:t>
            </a:r>
            <a:endParaRPr lang="es-CO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03 · DESARROLLO COMPUTACIONAL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MATLAB autocontenido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Arquitectura y flujo de trabajo (appQGeoidCOL2023.m)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4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5486400" cy="106299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106299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tarjeta 10"/>
          <p:cNvSpPr/>
          <p:nvPr/>
        </p:nvSpPr>
        <p:spPr>
          <a:xfrm>
            <a:off x="640080" y="1691640"/>
            <a:ext cx="5394960" cy="106299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FASE 1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500" b="1" dirty="0">
                <a:solidFill>
                  <a:srgbClr val="1B2631"/>
                </a:solidFill>
              </a:rPr>
              <a:t>Cargue y validación:</a:t>
            </a:r>
            <a:r>
              <a:rPr lang="es-CO" sz="1500" b="0" dirty="0">
                <a:solidFill>
                  <a:srgbClr val="1B2631"/>
                </a:solidFill>
              </a:rPr>
              <a:t> reconstrucción de la malla y autoverificación contra interp2.</a:t>
            </a:r>
            <a:endParaRPr lang="es-CO" sz="1500" dirty="0"/>
          </a:p>
        </p:txBody>
      </p:sp>
      <p:sp>
        <p:nvSpPr>
          <p:cNvPr id="11" name="Tarjeta 11"/>
          <p:cNvSpPr/>
          <p:nvPr/>
        </p:nvSpPr>
        <p:spPr>
          <a:xfrm>
            <a:off x="548640" y="2891790"/>
            <a:ext cx="5486400" cy="106299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2" name="Acento 12"/>
          <p:cNvSpPr/>
          <p:nvPr/>
        </p:nvSpPr>
        <p:spPr>
          <a:xfrm>
            <a:off x="548640" y="2891790"/>
            <a:ext cx="64008" cy="106299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Texto tarjeta 13"/>
          <p:cNvSpPr/>
          <p:nvPr/>
        </p:nvSpPr>
        <p:spPr>
          <a:xfrm>
            <a:off x="640080" y="2891790"/>
            <a:ext cx="5394960" cy="106299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FASE 2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500" b="1" dirty="0">
                <a:solidFill>
                  <a:srgbClr val="1B2631"/>
                </a:solidFill>
              </a:rPr>
              <a:t>Control de cobertura:</a:t>
            </a:r>
            <a:r>
              <a:rPr lang="es-CO" sz="1500" b="0" dirty="0">
                <a:solidFill>
                  <a:srgbClr val="1B2631"/>
                </a:solidFill>
              </a:rPr>
              <a:t> sin extrapolación y con validación del soporte de nodos.</a:t>
            </a:r>
            <a:endParaRPr lang="es-CO" sz="1500" dirty="0"/>
          </a:p>
        </p:txBody>
      </p:sp>
      <p:sp>
        <p:nvSpPr>
          <p:cNvPr id="14" name="Tarjeta 14"/>
          <p:cNvSpPr/>
          <p:nvPr/>
        </p:nvSpPr>
        <p:spPr>
          <a:xfrm>
            <a:off x="548640" y="4091940"/>
            <a:ext cx="5486400" cy="106299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Acento 15"/>
          <p:cNvSpPr/>
          <p:nvPr/>
        </p:nvSpPr>
        <p:spPr>
          <a:xfrm>
            <a:off x="548640" y="4091940"/>
            <a:ext cx="64008" cy="106299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6" name="Texto tarjeta 16"/>
          <p:cNvSpPr/>
          <p:nvPr/>
        </p:nvSpPr>
        <p:spPr>
          <a:xfrm>
            <a:off x="640080" y="4091940"/>
            <a:ext cx="5394960" cy="106299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FASE 3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500" b="1" dirty="0">
                <a:solidFill>
                  <a:srgbClr val="1B2631"/>
                </a:solidFill>
              </a:rPr>
              <a:t>Núcleo de interpolación:</a:t>
            </a:r>
            <a:r>
              <a:rPr lang="es-CO" sz="1500" b="0" dirty="0">
                <a:solidFill>
                  <a:srgbClr val="1B2631"/>
                </a:solidFill>
              </a:rPr>
              <a:t> cada método entrega nodos y pesos; ζ̂ = Σ w</a:t>
            </a:r>
            <a:r>
              <a:rPr lang="es-CO" sz="1500" b="0" dirty="0" baseline="-25000">
                <a:solidFill>
                  <a:srgbClr val="1B2631"/>
                </a:solidFill>
              </a:rPr>
              <a:t>i</a:t>
            </a:r>
            <a:r>
              <a:rPr lang="es-CO" sz="1500" b="0" dirty="0">
                <a:solidFill>
                  <a:srgbClr val="1B2631"/>
                </a:solidFill>
              </a:rPr>
              <a:t>ζ</a:t>
            </a:r>
            <a:r>
              <a:rPr lang="es-CO" sz="1500" b="0" dirty="0" baseline="-25000">
                <a:solidFill>
                  <a:srgbClr val="1B2631"/>
                </a:solidFill>
              </a:rPr>
              <a:t>i</a:t>
            </a:r>
            <a:r>
              <a:rPr lang="es-CO" sz="1500" b="0" dirty="0">
                <a:solidFill>
                  <a:srgbClr val="1B2631"/>
                </a:solidFill>
              </a:rPr>
              <a:t> en un solo lugar.</a:t>
            </a:r>
            <a:endParaRPr lang="es-CO" sz="1500" dirty="0"/>
          </a:p>
        </p:txBody>
      </p:sp>
      <p:sp>
        <p:nvSpPr>
          <p:cNvPr id="17" name="Tarjeta 17"/>
          <p:cNvSpPr/>
          <p:nvPr/>
        </p:nvSpPr>
        <p:spPr>
          <a:xfrm>
            <a:off x="548640" y="5292090"/>
            <a:ext cx="5486400" cy="106299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8" name="Acento 18"/>
          <p:cNvSpPr/>
          <p:nvPr/>
        </p:nvSpPr>
        <p:spPr>
          <a:xfrm>
            <a:off x="548640" y="5292090"/>
            <a:ext cx="64008" cy="106299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9" name="Texto tarjeta 19"/>
          <p:cNvSpPr/>
          <p:nvPr/>
        </p:nvSpPr>
        <p:spPr>
          <a:xfrm>
            <a:off x="640080" y="5292090"/>
            <a:ext cx="5394960" cy="106299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FASE 4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500" b="1" dirty="0">
                <a:solidFill>
                  <a:srgbClr val="1B2631"/>
                </a:solidFill>
              </a:rPr>
              <a:t>Visualización y reportes:</a:t>
            </a:r>
            <a:r>
              <a:rPr lang="es-CO" sz="1500" b="0" dirty="0">
                <a:solidFill>
                  <a:srgbClr val="1B2631"/>
                </a:solidFill>
              </a:rPr>
              <a:t> vista local, tablas de contribución y exportación (CSV, TXT, PNG).</a:t>
            </a:r>
            <a:endParaRPr lang="es-CO" sz="1500" dirty="0"/>
          </a:p>
        </p:txBody>
      </p:sp>
      <p:sp>
        <p:nvSpPr>
          <p:cNvPr id="20" name="Tarjeta 20"/>
          <p:cNvSpPr/>
          <p:nvPr/>
        </p:nvSpPr>
        <p:spPr>
          <a:xfrm>
            <a:off x="6309360" y="1691640"/>
            <a:ext cx="5330952" cy="16002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1" name="Acento 21"/>
          <p:cNvSpPr/>
          <p:nvPr/>
        </p:nvSpPr>
        <p:spPr>
          <a:xfrm>
            <a:off x="6309360" y="1691640"/>
            <a:ext cx="64008" cy="16002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2" name="Texto tarjeta 22"/>
          <p:cNvSpPr/>
          <p:nvPr/>
        </p:nvSpPr>
        <p:spPr>
          <a:xfrm>
            <a:off x="6400800" y="1691640"/>
            <a:ext cx="5239512" cy="1600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400" b="1" dirty="0">
                <a:solidFill>
                  <a:srgbClr val="1B2631"/>
                </a:solidFill>
              </a:rPr>
              <a:t>Cero dependencias externas:</a:t>
            </a:r>
            <a:r>
              <a:rPr lang="es-CO" sz="1400" b="0" dirty="0">
                <a:solidFill>
                  <a:srgbClr val="1B2631"/>
                </a:solidFill>
              </a:rPr>
              <a:t> no requiere Mapping ni Statistics Toolbox.</a:t>
            </a:r>
            <a:endParaRPr lang="es-CO" sz="1400" dirty="0"/>
          </a:p>
          <a:p>
            <a:pPr algn="l">
              <a:spcBef>
                <a:spcPts val="400"/>
              </a:spcBef>
              <a:buNone/>
            </a:pPr>
            <a:r>
              <a:rPr lang="es-CO" sz="1400" b="1" dirty="0">
                <a:solidFill>
                  <a:srgbClr val="1B2631"/>
                </a:solidFill>
              </a:rPr>
              <a:t>Reproducible:</a:t>
            </a:r>
            <a:r>
              <a:rPr lang="es-CO" sz="1400" b="0" dirty="0">
                <a:solidFill>
                  <a:srgbClr val="1B2631"/>
                </a:solidFill>
              </a:rPr>
              <a:t> diagonal fija SW–NE y semilla fija.</a:t>
            </a:r>
            <a:endParaRPr lang="es-CO" sz="1400" dirty="0"/>
          </a:p>
          <a:p>
            <a:pPr algn="l">
              <a:spcBef>
                <a:spcPts val="400"/>
              </a:spcBef>
              <a:buNone/>
            </a:pPr>
            <a:r>
              <a:rPr lang="es-CO" sz="1400" b="1" dirty="0">
                <a:solidFill>
                  <a:srgbClr val="1B2631"/>
                </a:solidFill>
              </a:rPr>
              <a:t>Transparente:</a:t>
            </a:r>
            <a:r>
              <a:rPr lang="es-CO" sz="1400" b="0" dirty="0">
                <a:solidFill>
                  <a:srgbClr val="1B2631"/>
                </a:solidFill>
              </a:rPr>
              <a:t> CSV sin redondear; pantalla al milímetro.</a:t>
            </a:r>
            <a:endParaRPr lang="es-CO" sz="1400" dirty="0"/>
          </a:p>
        </p:txBody>
      </p:sp>
      <p:sp>
        <p:nvSpPr>
          <p:cNvPr id="23" name="Pantallazo 23"/>
          <p:cNvSpPr/>
          <p:nvPr/>
        </p:nvSpPr>
        <p:spPr>
          <a:xfrm>
            <a:off x="6309360" y="3474720"/>
            <a:ext cx="5330952" cy="288036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6 del informe (diagrama de flujo) o Figura 3 (interfaz MATLAB) ]</a:t>
            </a:r>
            <a:endParaRPr lang="es-CO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04 · METODOLOGÍA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Los 6 métodos de interpolación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Todos producen ζ̂ = Σ wᵢ ζᵢ con Σ wᵢ = 1 — ninguno extrapola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5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3575304" cy="2217420"/>
          </a:xfrm>
          <a:prstGeom prst="rect">
            <a:avLst/>
          </a:prstGeom>
          <a:solidFill>
            <a:srgbClr val="FBF1F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221742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tarjeta 10"/>
          <p:cNvSpPr/>
          <p:nvPr/>
        </p:nvSpPr>
        <p:spPr>
          <a:xfrm>
            <a:off x="640080" y="1691640"/>
            <a:ext cx="3483864" cy="22174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B03A2E"/>
                </a:solidFill>
              </a:rPr>
              <a:t>DISCONTINUO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900" b="1" dirty="0">
                <a:solidFill>
                  <a:srgbClr val="002060"/>
                </a:solidFill>
              </a:rPr>
              <a:t>Vecino más cercano</a:t>
            </a:r>
            <a:endParaRPr lang="es-CO" sz="19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Valor del nodo más próximo. Escalones entre nodos.</a:t>
            </a:r>
            <a:endParaRPr lang="es-CO" sz="1500" dirty="0"/>
          </a:p>
        </p:txBody>
      </p:sp>
      <p:sp>
        <p:nvSpPr>
          <p:cNvPr id="11" name="Tarjeta 11"/>
          <p:cNvSpPr/>
          <p:nvPr/>
        </p:nvSpPr>
        <p:spPr>
          <a:xfrm>
            <a:off x="4306824" y="1691640"/>
            <a:ext cx="3575304" cy="22174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2" name="Acento 12"/>
          <p:cNvSpPr/>
          <p:nvPr/>
        </p:nvSpPr>
        <p:spPr>
          <a:xfrm>
            <a:off x="4306824" y="1691640"/>
            <a:ext cx="64008" cy="22174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Texto tarjeta 13"/>
          <p:cNvSpPr/>
          <p:nvPr/>
        </p:nvSpPr>
        <p:spPr>
          <a:xfrm>
            <a:off x="4398264" y="1691640"/>
            <a:ext cx="3483864" cy="22174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CONTINUO C⁰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900" b="1" dirty="0">
                <a:solidFill>
                  <a:srgbClr val="002060"/>
                </a:solidFill>
              </a:rPr>
              <a:t>Lineal por triángulos</a:t>
            </a:r>
            <a:endParaRPr lang="es-CO" sz="19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Coordenadas baricéntricas con diagonal fija SW–NE.</a:t>
            </a:r>
            <a:endParaRPr lang="es-CO" sz="1500" dirty="0"/>
          </a:p>
        </p:txBody>
      </p:sp>
      <p:sp>
        <p:nvSpPr>
          <p:cNvPr id="14" name="Tarjeta 14"/>
          <p:cNvSpPr/>
          <p:nvPr/>
        </p:nvSpPr>
        <p:spPr>
          <a:xfrm>
            <a:off x="8065008" y="1691640"/>
            <a:ext cx="3575304" cy="22174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Acento 15"/>
          <p:cNvSpPr/>
          <p:nvPr/>
        </p:nvSpPr>
        <p:spPr>
          <a:xfrm>
            <a:off x="8065008" y="1691640"/>
            <a:ext cx="64008" cy="22174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6" name="Texto tarjeta 16"/>
          <p:cNvSpPr/>
          <p:nvPr/>
        </p:nvSpPr>
        <p:spPr>
          <a:xfrm>
            <a:off x="8156448" y="1691640"/>
            <a:ext cx="3483864" cy="22174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MÉTODO HABITUAL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900" b="1" dirty="0">
                <a:solidFill>
                  <a:srgbClr val="002060"/>
                </a:solidFill>
              </a:rPr>
              <a:t>Bilineal</a:t>
            </a:r>
            <a:endParaRPr lang="es-CO" sz="19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4 esquinas de la celda. Exacto en los nodos y fácil de verificar.</a:t>
            </a:r>
            <a:endParaRPr lang="es-CO" sz="1500" dirty="0"/>
          </a:p>
        </p:txBody>
      </p:sp>
      <p:sp>
        <p:nvSpPr>
          <p:cNvPr id="17" name="Tarjeta 17"/>
          <p:cNvSpPr/>
          <p:nvPr/>
        </p:nvSpPr>
        <p:spPr>
          <a:xfrm>
            <a:off x="548640" y="4137660"/>
            <a:ext cx="3575304" cy="221742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8" name="Acento 18"/>
          <p:cNvSpPr/>
          <p:nvPr/>
        </p:nvSpPr>
        <p:spPr>
          <a:xfrm>
            <a:off x="548640" y="4137660"/>
            <a:ext cx="64008" cy="22174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9" name="Texto tarjeta 19"/>
          <p:cNvSpPr/>
          <p:nvPr/>
        </p:nvSpPr>
        <p:spPr>
          <a:xfrm>
            <a:off x="640080" y="4137660"/>
            <a:ext cx="3483864" cy="22174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1E8449"/>
                </a:solidFill>
              </a:rPr>
              <a:t>ALTA PRECISIÓN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900" b="1" dirty="0">
                <a:solidFill>
                  <a:srgbClr val="002060"/>
                </a:solidFill>
              </a:rPr>
              <a:t>Bicúbica (Keys, a = −0,5)</a:t>
            </a:r>
            <a:endParaRPr lang="es-CO" sz="19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Convolución cúbica con 16 nodos (4 × 4). Sigue la curvatura; no aplica en el borde.</a:t>
            </a:r>
            <a:endParaRPr lang="es-CO" sz="1500" dirty="0"/>
          </a:p>
        </p:txBody>
      </p:sp>
      <p:sp>
        <p:nvSpPr>
          <p:cNvPr id="20" name="Tarjeta 20"/>
          <p:cNvSpPr/>
          <p:nvPr/>
        </p:nvSpPr>
        <p:spPr>
          <a:xfrm>
            <a:off x="4306824" y="4137660"/>
            <a:ext cx="3575304" cy="221742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1" name="Acento 21"/>
          <p:cNvSpPr/>
          <p:nvPr/>
        </p:nvSpPr>
        <p:spPr>
          <a:xfrm>
            <a:off x="4306824" y="4137660"/>
            <a:ext cx="64008" cy="22174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2" name="Texto tarjeta 22"/>
          <p:cNvSpPr/>
          <p:nvPr/>
        </p:nvSpPr>
        <p:spPr>
          <a:xfrm>
            <a:off x="4398264" y="4137660"/>
            <a:ext cx="3483864" cy="22174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E67E22"/>
                </a:solidFill>
              </a:rPr>
              <a:t>PROMEDIO LOCAL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900" b="1" dirty="0">
                <a:solidFill>
                  <a:srgbClr val="002060"/>
                </a:solidFill>
              </a:rPr>
              <a:t>IDW (p = 2, k = 16)</a:t>
            </a:r>
            <a:endParaRPr lang="es-CO" sz="19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Pesos ∝ 1/dᵖ. Tiende a aplanar los gradientes.</a:t>
            </a:r>
            <a:endParaRPr lang="es-CO" sz="1500" dirty="0"/>
          </a:p>
        </p:txBody>
      </p:sp>
      <p:sp>
        <p:nvSpPr>
          <p:cNvPr id="23" name="Tarjeta 23"/>
          <p:cNvSpPr/>
          <p:nvPr/>
        </p:nvSpPr>
        <p:spPr>
          <a:xfrm>
            <a:off x="8065008" y="4137660"/>
            <a:ext cx="3575304" cy="22174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4" name="Acento 24"/>
          <p:cNvSpPr/>
          <p:nvPr/>
        </p:nvSpPr>
        <p:spPr>
          <a:xfrm>
            <a:off x="8065008" y="4137660"/>
            <a:ext cx="64008" cy="2217420"/>
          </a:xfrm>
          <a:prstGeom prst="rect">
            <a:avLst/>
          </a:prstGeom>
          <a:solidFill>
            <a:srgbClr val="5F6B7A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5" name="Texto tarjeta 25"/>
          <p:cNvSpPr/>
          <p:nvPr/>
        </p:nvSpPr>
        <p:spPr>
          <a:xfrm>
            <a:off x="8156448" y="4137660"/>
            <a:ext cx="3483864" cy="22174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5F6B7A"/>
                </a:solidFill>
              </a:rPr>
              <a:t>ESTADÍSTICO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900" b="1" dirty="0">
                <a:solidFill>
                  <a:srgbClr val="002060"/>
                </a:solidFill>
              </a:rPr>
              <a:t>Kriging ordinario</a:t>
            </a:r>
            <a:endParaRPr lang="es-CO" sz="19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Semivariograma local (ventana 12 × 12) ajustado por mínimos cuadrados ponderados.</a:t>
            </a:r>
            <a:endParaRPr lang="es-CO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05 · VERIFICACIÓN DE CÓDIGO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Autoverificación vs. MATLAB interp2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Diferencias al nivel de la precisión de máquina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6</a:t>
            </a:r>
            <a:endParaRPr lang="es-CO" sz="1100" dirty="0"/>
          </a:p>
        </p:txBody>
      </p:sp>
      <p:graphicFrame>
        <p:nvGraphicFramePr>
          <p:cNvPr id="8" name="Tabla 8"/>
          <p:cNvGraphicFramePr>
            <a:graphicFrameLocks noGrp="1"/>
          </p:cNvGraphicFramePr>
          <p:nvPr/>
        </p:nvGraphicFramePr>
        <p:xfrm>
          <a:off x="548640" y="1691640"/>
          <a:ext cx="6766560" cy="3072384"/>
        </p:xfrm>
        <a:graphic>
          <a:graphicData uri="http://schemas.openxmlformats.org/drawingml/2006/table">
            <a:tbl>
              <a:tblPr firstRow="1" bandRow="1"/>
              <a:tblGrid>
                <a:gridCol w="2475571"/>
                <a:gridCol w="2640609"/>
                <a:gridCol w="1650380"/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vs. interp2 (m)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máx |1 − Σwᵢ|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Vecino más cercano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 ('nearest')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Lineal por triángulos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— (diagonal fija)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1,1 × 10</a:t>
                      </a:r>
                      <a:r>
                        <a:rPr lang="es-CO" sz="1400" b="0" dirty="0" baseline="30000">
                          <a:solidFill>
                            <a:srgbClr val="1B2631"/>
                          </a:solidFill>
                        </a:rPr>
                        <a:t>−16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Bilineal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7,1 × 10</a:t>
                      </a:r>
                      <a:r>
                        <a:rPr lang="es-CO" sz="1400" b="0" dirty="0" baseline="30000">
                          <a:solidFill>
                            <a:srgbClr val="1B2631"/>
                          </a:solidFill>
                        </a:rPr>
                        <a:t>−15</a:t>
                      </a: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 ('linear')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2,2 × 10</a:t>
                      </a:r>
                      <a:r>
                        <a:rPr lang="es-CO" sz="1400" b="0" dirty="0" baseline="30000">
                          <a:solidFill>
                            <a:srgbClr val="1B2631"/>
                          </a:solidFill>
                        </a:rPr>
                        <a:t>−16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Bicúbica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6,8 × 10</a:t>
                      </a:r>
                      <a:r>
                        <a:rPr lang="es-CO" sz="1400" b="0" dirty="0" baseline="30000">
                          <a:solidFill>
                            <a:srgbClr val="1B2631"/>
                          </a:solidFill>
                        </a:rPr>
                        <a:t>−14</a:t>
                      </a: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 ('cubic')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2,3 × 10</a:t>
                      </a:r>
                      <a:r>
                        <a:rPr lang="es-CO" sz="1400" b="0" dirty="0" baseline="30000">
                          <a:solidFill>
                            <a:srgbClr val="1B2631"/>
                          </a:solidFill>
                        </a:rPr>
                        <a:t>−15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IDW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— (distancia métrica)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5,6 × 10</a:t>
                      </a:r>
                      <a:r>
                        <a:rPr lang="es-CO" sz="1400" b="0" dirty="0" baseline="30000">
                          <a:solidFill>
                            <a:srgbClr val="1B2631"/>
                          </a:solidFill>
                        </a:rPr>
                        <a:t>−16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Kriging ordinario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— (variograma local)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4,4 × 10</a:t>
                      </a:r>
                      <a:r>
                        <a:rPr lang="es-CO" sz="1400" b="0" dirty="0" baseline="30000">
                          <a:solidFill>
                            <a:srgbClr val="1B2631"/>
                          </a:solidFill>
                        </a:rPr>
                        <a:t>−16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arjeta 9"/>
          <p:cNvSpPr/>
          <p:nvPr/>
        </p:nvSpPr>
        <p:spPr>
          <a:xfrm>
            <a:off x="7589520" y="1691640"/>
            <a:ext cx="4050792" cy="17373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Acento 10"/>
          <p:cNvSpPr/>
          <p:nvPr/>
        </p:nvSpPr>
        <p:spPr>
          <a:xfrm>
            <a:off x="7589520" y="1691640"/>
            <a:ext cx="64008" cy="17373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1" name="Texto tarjeta 11"/>
          <p:cNvSpPr/>
          <p:nvPr/>
        </p:nvSpPr>
        <p:spPr>
          <a:xfrm>
            <a:off x="7680960" y="1691640"/>
            <a:ext cx="3959352" cy="17373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1E8449"/>
                </a:solidFill>
              </a:rPr>
              <a:t>NORMALIZACIÓN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Σ wᵢ = 1 se verifica en </a:t>
            </a:r>
            <a:r>
              <a:rPr lang="es-CO" sz="1500" b="1" dirty="0">
                <a:solidFill>
                  <a:srgbClr val="1B2631"/>
                </a:solidFill>
              </a:rPr>
              <a:t>cada</a:t>
            </a:r>
            <a:r>
              <a:rPr lang="es-CO" sz="1500" b="0" dirty="0">
                <a:solidFill>
                  <a:srgbClr val="1B2631"/>
                </a:solidFill>
              </a:rPr>
              <a:t> consulta: una superficie constante se reproduce exactamente.</a:t>
            </a:r>
            <a:endParaRPr lang="es-CO" sz="1500" dirty="0"/>
          </a:p>
        </p:txBody>
      </p:sp>
      <p:sp>
        <p:nvSpPr>
          <p:cNvPr id="12" name="Tarjeta 12"/>
          <p:cNvSpPr/>
          <p:nvPr/>
        </p:nvSpPr>
        <p:spPr>
          <a:xfrm>
            <a:off x="7589520" y="3611880"/>
            <a:ext cx="4050792" cy="1737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Acento 13"/>
          <p:cNvSpPr/>
          <p:nvPr/>
        </p:nvSpPr>
        <p:spPr>
          <a:xfrm>
            <a:off x="7589520" y="3611880"/>
            <a:ext cx="64008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4" name="Texto tarjeta 14"/>
          <p:cNvSpPr/>
          <p:nvPr/>
        </p:nvSpPr>
        <p:spPr>
          <a:xfrm>
            <a:off x="7680960" y="3611880"/>
            <a:ext cx="3959352" cy="17373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CONTROL DE BORDES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En el borde exterior la bicúbica se declara </a:t>
            </a:r>
            <a:r>
              <a:rPr lang="es-CO" sz="1500" b="1" dirty="0">
                <a:solidFill>
                  <a:srgbClr val="1B2631"/>
                </a:solidFill>
              </a:rPr>
              <a:t>no aplicable</a:t>
            </a:r>
            <a:r>
              <a:rPr lang="es-CO" sz="1500" b="0" dirty="0">
                <a:solidFill>
                  <a:srgbClr val="1B2631"/>
                </a:solidFill>
              </a:rPr>
              <a:t> y no se sustituye en silencio.</a:t>
            </a:r>
            <a:endParaRPr lang="es-CO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06 · EVALUACIÓN DE EXACTITUD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Validación cruzada por decimación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Malla decimada a 10′ y 400 nodos retirados (semilla fija)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7</a:t>
            </a:r>
            <a:endParaRPr lang="es-CO" sz="1100" dirty="0"/>
          </a:p>
        </p:txBody>
      </p:sp>
      <p:graphicFrame>
        <p:nvGraphicFramePr>
          <p:cNvPr id="8" name="Tabla 8"/>
          <p:cNvGraphicFramePr>
            <a:graphicFrameLocks noGrp="1"/>
          </p:cNvGraphicFramePr>
          <p:nvPr/>
        </p:nvGraphicFramePr>
        <p:xfrm>
          <a:off x="548640" y="1691640"/>
          <a:ext cx="6035040" cy="2688336"/>
        </p:xfrm>
        <a:graphic>
          <a:graphicData uri="http://schemas.openxmlformats.org/drawingml/2006/table">
            <a:tbl>
              <a:tblPr firstRow="1" bandRow="1"/>
              <a:tblGrid>
                <a:gridCol w="402336"/>
                <a:gridCol w="2414016"/>
                <a:gridCol w="1126541"/>
                <a:gridCol w="1046074"/>
                <a:gridCol w="1046074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RMSE (mm)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MAE (mm)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P95 (mm)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1E8449"/>
                          </a:solidFill>
                        </a:rPr>
                        <a:t>1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1E8449"/>
                          </a:solidFill>
                        </a:rPr>
                        <a:t>Bicúbica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1E8449"/>
                          </a:solidFill>
                        </a:rPr>
                        <a:t>58,0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1E8449"/>
                          </a:solidFill>
                        </a:rPr>
                        <a:t>29,5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1E8449"/>
                          </a:solidFill>
                        </a:rPr>
                        <a:t>141,4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D5F5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Bilineal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86,6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48,3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187,2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Lineal por triángulos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88,7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49,8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184,0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4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Kriging ordinario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135,9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64,3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315,6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5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IDW (p = 2, k = 16)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212,3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133,4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449,3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B03A2E"/>
                          </a:solidFill>
                        </a:rPr>
                        <a:t>6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B03A2E"/>
                          </a:solidFill>
                        </a:rPr>
                        <a:t>Vecino más cercano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B03A2E"/>
                          </a:solidFill>
                        </a:rPr>
                        <a:t>480,7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B03A2E"/>
                          </a:solidFill>
                        </a:rPr>
                        <a:t>326,3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B03A2E"/>
                          </a:solidFill>
                        </a:rPr>
                        <a:t>997,0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arjeta 9"/>
          <p:cNvSpPr/>
          <p:nvPr/>
        </p:nvSpPr>
        <p:spPr>
          <a:xfrm>
            <a:off x="548640" y="4608576"/>
            <a:ext cx="2926080" cy="1746504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Acento 10"/>
          <p:cNvSpPr/>
          <p:nvPr/>
        </p:nvSpPr>
        <p:spPr>
          <a:xfrm>
            <a:off x="548640" y="4608576"/>
            <a:ext cx="64008" cy="1746504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1" name="Texto tarjeta 11"/>
          <p:cNvSpPr/>
          <p:nvPr/>
        </p:nvSpPr>
        <p:spPr>
          <a:xfrm>
            <a:off x="640080" y="4608576"/>
            <a:ext cx="2834640" cy="1746504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500" b="1" dirty="0">
                <a:solidFill>
                  <a:srgbClr val="1B2631"/>
                </a:solidFill>
              </a:rPr>
              <a:t>Bicúbica:</a:t>
            </a:r>
            <a:r>
              <a:rPr lang="es-CO" sz="1500" b="0" dirty="0">
                <a:solidFill>
                  <a:srgbClr val="1B2631"/>
                </a:solidFill>
              </a:rPr>
              <a:t> 33 % menos RMSE que la bilineal.</a:t>
            </a:r>
            <a:endParaRPr lang="es-CO" sz="1500" dirty="0"/>
          </a:p>
        </p:txBody>
      </p:sp>
      <p:sp>
        <p:nvSpPr>
          <p:cNvPr id="12" name="Tarjeta 12"/>
          <p:cNvSpPr/>
          <p:nvPr/>
        </p:nvSpPr>
        <p:spPr>
          <a:xfrm>
            <a:off x="3657600" y="4608576"/>
            <a:ext cx="2926080" cy="1746504"/>
          </a:xfrm>
          <a:prstGeom prst="rect">
            <a:avLst/>
          </a:prstGeom>
          <a:solidFill>
            <a:srgbClr val="FBF1F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Acento 13"/>
          <p:cNvSpPr/>
          <p:nvPr/>
        </p:nvSpPr>
        <p:spPr>
          <a:xfrm>
            <a:off x="3657600" y="4608576"/>
            <a:ext cx="64008" cy="174650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4" name="Texto tarjeta 14"/>
          <p:cNvSpPr/>
          <p:nvPr/>
        </p:nvSpPr>
        <p:spPr>
          <a:xfrm>
            <a:off x="3749040" y="4608576"/>
            <a:ext cx="2834640" cy="1746504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500" b="1" dirty="0">
                <a:solidFill>
                  <a:srgbClr val="1B2631"/>
                </a:solidFill>
              </a:rPr>
              <a:t>Vecino más cercano:</a:t>
            </a:r>
            <a:r>
              <a:rPr lang="es-CO" sz="1500" b="0" dirty="0">
                <a:solidFill>
                  <a:srgbClr val="1B2631"/>
                </a:solidFill>
              </a:rPr>
              <a:t> errores de hasta 2,5 m.</a:t>
            </a:r>
            <a:endParaRPr lang="es-CO" sz="1500" dirty="0"/>
          </a:p>
        </p:txBody>
      </p:sp>
      <p:sp>
        <p:nvSpPr>
          <p:cNvPr id="15" name="Pantallazo 15"/>
          <p:cNvSpPr/>
          <p:nvPr/>
        </p:nvSpPr>
        <p:spPr>
          <a:xfrm>
            <a:off x="6858000" y="1691640"/>
            <a:ext cx="4782312" cy="466344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9 del informe (diagrama de cajas e indicadores) ]</a:t>
            </a:r>
            <a:endParaRPr lang="es-CO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07 · ANÁLISIS LOCAL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Comportamiento en P4 (Bogotá)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Zona de fuerte gradiente · bilineal ζ̂ = 23,360 m (u = 0,8455, v = 0,7796)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8</a:t>
            </a:r>
            <a:endParaRPr lang="es-CO" sz="1100" dirty="0"/>
          </a:p>
        </p:txBody>
      </p:sp>
      <p:graphicFrame>
        <p:nvGraphicFramePr>
          <p:cNvPr id="8" name="Tabla 8"/>
          <p:cNvGraphicFramePr>
            <a:graphicFrameLocks noGrp="1"/>
          </p:cNvGraphicFramePr>
          <p:nvPr/>
        </p:nvGraphicFramePr>
        <p:xfrm>
          <a:off x="548640" y="1691640"/>
          <a:ext cx="6035040" cy="1920240"/>
        </p:xfrm>
        <a:graphic>
          <a:graphicData uri="http://schemas.openxmlformats.org/drawingml/2006/table">
            <a:tbl>
              <a:tblPr firstRow="1" bandRow="1"/>
              <a:tblGrid>
                <a:gridCol w="2550017"/>
                <a:gridCol w="1105007"/>
                <a:gridCol w="1105007"/>
                <a:gridCol w="1275008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Nodo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ζᵢ (m)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wᵢ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wᵢζᵢ (m)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NE (4,63°; −74,05°)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23,332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0,6592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15,3804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SE (4,55°; −74,05°)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23,729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0,1863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4,4211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NW (4,63°; −74,13°)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22,937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0,1204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2,7626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SW (4,55°; −74,13°)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23,388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0,0340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0,7962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arjeta 9"/>
          <p:cNvSpPr/>
          <p:nvPr/>
        </p:nvSpPr>
        <p:spPr>
          <a:xfrm>
            <a:off x="548640" y="3794760"/>
            <a:ext cx="6035040" cy="12115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Acento 10"/>
          <p:cNvSpPr/>
          <p:nvPr/>
        </p:nvSpPr>
        <p:spPr>
          <a:xfrm>
            <a:off x="548640" y="3794760"/>
            <a:ext cx="64008" cy="12115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1" name="Texto tarjeta 11"/>
          <p:cNvSpPr/>
          <p:nvPr/>
        </p:nvSpPr>
        <p:spPr>
          <a:xfrm>
            <a:off x="640080" y="3794760"/>
            <a:ext cx="5943600" cy="12115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400" b="1" dirty="0">
                <a:solidFill>
                  <a:srgbClr val="1B2631"/>
                </a:solidFill>
              </a:rPr>
              <a:t>Pesos negativos:</a:t>
            </a:r>
            <a:r>
              <a:rPr lang="es-CO" sz="1400" b="0" dirty="0">
                <a:solidFill>
                  <a:srgbClr val="1B2631"/>
                </a:solidFill>
              </a:rPr>
              <a:t> la bicúbica (8 nodos) y el kriging (6 nodos) los asignan a la corona exterior para no aplanar el campo.</a:t>
            </a:r>
            <a:endParaRPr lang="es-CO" sz="1400" dirty="0"/>
          </a:p>
        </p:txBody>
      </p:sp>
      <p:sp>
        <p:nvSpPr>
          <p:cNvPr id="12" name="Tarjeta 12"/>
          <p:cNvSpPr/>
          <p:nvPr/>
        </p:nvSpPr>
        <p:spPr>
          <a:xfrm>
            <a:off x="548640" y="5097780"/>
            <a:ext cx="6035040" cy="121158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Acento 13"/>
          <p:cNvSpPr/>
          <p:nvPr/>
        </p:nvSpPr>
        <p:spPr>
          <a:xfrm>
            <a:off x="548640" y="5097780"/>
            <a:ext cx="64008" cy="12115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4" name="Texto tarjeta 14"/>
          <p:cNvSpPr/>
          <p:nvPr/>
        </p:nvSpPr>
        <p:spPr>
          <a:xfrm>
            <a:off x="640080" y="5097780"/>
            <a:ext cx="5943600" cy="12115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400" b="1" dirty="0">
                <a:solidFill>
                  <a:srgbClr val="1B2631"/>
                </a:solidFill>
              </a:rPr>
              <a:t>Dispersión entre métodos continuos:</a:t>
            </a:r>
            <a:r>
              <a:rPr lang="es-CO" sz="1400" b="0" dirty="0">
                <a:solidFill>
                  <a:srgbClr val="1B2631"/>
                </a:solidFill>
              </a:rPr>
              <a:t> 47,6 mm en P4, frente a 21,2 mm en P5 (Arauca, zona llana).</a:t>
            </a:r>
            <a:endParaRPr lang="es-CO" sz="1400" dirty="0"/>
          </a:p>
        </p:txBody>
      </p:sp>
      <p:sp>
        <p:nvSpPr>
          <p:cNvPr id="15" name="Pantallazo 15"/>
          <p:cNvSpPr/>
          <p:nvPr/>
        </p:nvSpPr>
        <p:spPr>
          <a:xfrm>
            <a:off x="6858000" y="1691640"/>
            <a:ext cx="4782312" cy="466344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7 del informe (vista local de los 6 métodos en P4) ]</a:t>
            </a:r>
            <a:endParaRPr lang="es-CO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08 · COMPARACIÓN MULTIMODELO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QGeoidCOL2023 vs. GeoCol2004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Diferencia sistemática ζ − N en los puntos de control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9</a:t>
            </a:r>
            <a:endParaRPr lang="es-CO" sz="1100" dirty="0"/>
          </a:p>
        </p:txBody>
      </p:sp>
      <p:graphicFrame>
        <p:nvGraphicFramePr>
          <p:cNvPr id="8" name="Tabla 8"/>
          <p:cNvGraphicFramePr>
            <a:graphicFrameLocks noGrp="1"/>
          </p:cNvGraphicFramePr>
          <p:nvPr/>
        </p:nvGraphicFramePr>
        <p:xfrm>
          <a:off x="548640" y="1691640"/>
          <a:ext cx="4206240" cy="2304288"/>
        </p:xfrm>
        <a:graphic>
          <a:graphicData uri="http://schemas.openxmlformats.org/drawingml/2006/table">
            <a:tbl>
              <a:tblPr firstRow="1" bandRow="1"/>
              <a:tblGrid>
                <a:gridCol w="27432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Punto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ζ − N (m)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P1 (Guajira)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−0,733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P2 (Córdoba)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−0,998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P3 (N. Santander)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−4,072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P4 (Bogotá)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−3,299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P5 (Arauca)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−1,584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rjeta 9"/>
          <p:cNvSpPr/>
          <p:nvPr/>
        </p:nvSpPr>
        <p:spPr>
          <a:xfrm>
            <a:off x="548640" y="4224528"/>
            <a:ext cx="4206240" cy="2130552"/>
          </a:xfrm>
          <a:prstGeom prst="rect">
            <a:avLst/>
          </a:prstGeom>
          <a:solidFill>
            <a:srgbClr val="FBF1F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Acento 10"/>
          <p:cNvSpPr/>
          <p:nvPr/>
        </p:nvSpPr>
        <p:spPr>
          <a:xfrm>
            <a:off x="548640" y="4224528"/>
            <a:ext cx="64008" cy="2130552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1" name="Texto tarjeta 11"/>
          <p:cNvSpPr/>
          <p:nvPr/>
        </p:nvSpPr>
        <p:spPr>
          <a:xfrm>
            <a:off x="640080" y="4224528"/>
            <a:ext cx="4114800" cy="2130552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600" b="1" dirty="0">
                <a:solidFill>
                  <a:srgbClr val="B03A2E"/>
                </a:solidFill>
              </a:rPr>
              <a:t>−2,14 m</a:t>
            </a:r>
            <a:endParaRPr lang="es-CO" sz="3600" dirty="0"/>
          </a:p>
          <a:p>
            <a:pPr algn="l">
              <a:spcBef>
                <a:spcPts val="400"/>
              </a:spcBef>
              <a:buNone/>
            </a:pPr>
            <a:r>
              <a:rPr lang="es-CO" sz="1300" b="0" dirty="0">
                <a:solidFill>
                  <a:srgbClr val="5F6B7A"/>
                </a:solidFill>
              </a:rPr>
              <a:t>diferencia media en los cinco puntos</a:t>
            </a:r>
            <a:endParaRPr lang="es-CO" sz="1300" dirty="0"/>
          </a:p>
        </p:txBody>
      </p:sp>
      <p:sp>
        <p:nvSpPr>
          <p:cNvPr id="12" name="Tarjeta 12"/>
          <p:cNvSpPr/>
          <p:nvPr/>
        </p:nvSpPr>
        <p:spPr>
          <a:xfrm>
            <a:off x="5029200" y="1691640"/>
            <a:ext cx="6611112" cy="1965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Acento 13"/>
          <p:cNvSpPr/>
          <p:nvPr/>
        </p:nvSpPr>
        <p:spPr>
          <a:xfrm>
            <a:off x="5029200" y="1691640"/>
            <a:ext cx="64008" cy="1965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4" name="Texto tarjeta 14"/>
          <p:cNvSpPr/>
          <p:nvPr/>
        </p:nvSpPr>
        <p:spPr>
          <a:xfrm>
            <a:off x="5120640" y="1691640"/>
            <a:ext cx="6519672" cy="19659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EXPLICACIÓN GEODÉSICA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No se explica por la separación geoide–cuasigeoide: es de signo contrario y un orden mayor. Es coherente con el </a:t>
            </a:r>
            <a:r>
              <a:rPr lang="es-CO" sz="1400" b="1" dirty="0">
                <a:solidFill>
                  <a:srgbClr val="1B2631"/>
                </a:solidFill>
              </a:rPr>
              <a:t>sesgo de ~2 m documentado para GeoCol2004</a:t>
            </a:r>
            <a:r>
              <a:rPr lang="es-CO" sz="1400" b="0" dirty="0">
                <a:solidFill>
                  <a:srgbClr val="1B2631"/>
                </a:solidFill>
              </a:rPr>
              <a:t> (modelo global de grado 200, MDT de ~1 km). QGeoidCOL2023 incorpora gravimetría terrestre y aerotransportada, altimetría y modelos satelitales GRACE/GOCE.</a:t>
            </a:r>
            <a:endParaRPr lang="es-CO" sz="1400" dirty="0"/>
          </a:p>
        </p:txBody>
      </p:sp>
      <p:sp>
        <p:nvSpPr>
          <p:cNvPr id="15" name="Pantallazo 15"/>
          <p:cNvSpPr/>
          <p:nvPr/>
        </p:nvSpPr>
        <p:spPr>
          <a:xfrm>
            <a:off x="5029200" y="3840480"/>
            <a:ext cx="6611112" cy="251460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14a del informe (diferencias QGeoid − GeoCol2004) ]</a:t>
            </a:r>
            <a:endParaRPr lang="es-CO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09 · COMPARACIÓN MULTIMODELO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QGeoidCOL2023 vs. EGM2008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Modelo global vs. regional (ζ − N_EGM)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10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5120640" cy="1325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1325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tarjeta 10"/>
          <p:cNvSpPr/>
          <p:nvPr/>
        </p:nvSpPr>
        <p:spPr>
          <a:xfrm>
            <a:off x="640080" y="1691640"/>
            <a:ext cx="5029200" cy="1325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600" b="1" dirty="0">
                <a:solidFill>
                  <a:srgbClr val="002060"/>
                </a:solidFill>
              </a:rPr>
              <a:t>35,7 cm</a:t>
            </a:r>
            <a:endParaRPr lang="es-CO" sz="3600" dirty="0"/>
          </a:p>
          <a:p>
            <a:pPr algn="l">
              <a:spcBef>
                <a:spcPts val="400"/>
              </a:spcBef>
              <a:buNone/>
            </a:pPr>
            <a:r>
              <a:rPr lang="es-CO" sz="1300" b="0" dirty="0">
                <a:solidFill>
                  <a:srgbClr val="5F6B7A"/>
                </a:solidFill>
              </a:rPr>
              <a:t>RMS de la diferencia en los cinco puntos de control (de −21 cm a +70 cm)</a:t>
            </a:r>
            <a:endParaRPr lang="es-CO" sz="1300" dirty="0"/>
          </a:p>
        </p:txBody>
      </p:sp>
      <p:sp>
        <p:nvSpPr>
          <p:cNvPr id="11" name="Tarjeta 11"/>
          <p:cNvSpPr/>
          <p:nvPr/>
        </p:nvSpPr>
        <p:spPr>
          <a:xfrm>
            <a:off x="548640" y="3200400"/>
            <a:ext cx="5120640" cy="1371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2" name="Acento 12"/>
          <p:cNvSpPr/>
          <p:nvPr/>
        </p:nvSpPr>
        <p:spPr>
          <a:xfrm>
            <a:off x="548640" y="3200400"/>
            <a:ext cx="64008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Texto tarjeta 13"/>
          <p:cNvSpPr/>
          <p:nvPr/>
        </p:nvSpPr>
        <p:spPr>
          <a:xfrm>
            <a:off x="640080" y="32004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REFERENCIAS DISTINTAS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EGM2008 está en </a:t>
            </a:r>
            <a:r>
              <a:rPr lang="es-CO" sz="1400" b="1" dirty="0">
                <a:solidFill>
                  <a:srgbClr val="1B2631"/>
                </a:solidFill>
              </a:rPr>
              <a:t>tide free</a:t>
            </a:r>
            <a:r>
              <a:rPr lang="es-CO" sz="1400" b="0" dirty="0">
                <a:solidFill>
                  <a:srgbClr val="1B2631"/>
                </a:solidFill>
              </a:rPr>
              <a:t> y con término de grado cero (≈ −41 cm); QGeoidCOL2023 en </a:t>
            </a:r>
            <a:r>
              <a:rPr lang="es-CO" sz="1400" b="1" dirty="0">
                <a:solidFill>
                  <a:srgbClr val="1B2631"/>
                </a:solidFill>
              </a:rPr>
              <a:t>zero tide</a:t>
            </a:r>
            <a:r>
              <a:rPr lang="es-CO" sz="1400" b="0" dirty="0">
                <a:solidFill>
                  <a:srgbClr val="1B2631"/>
                </a:solidFill>
              </a:rPr>
              <a:t> e IHRS.</a:t>
            </a:r>
            <a:endParaRPr lang="es-CO" sz="1400" dirty="0"/>
          </a:p>
        </p:txBody>
      </p:sp>
      <p:sp>
        <p:nvSpPr>
          <p:cNvPr id="14" name="Tarjeta 14"/>
          <p:cNvSpPr/>
          <p:nvPr/>
        </p:nvSpPr>
        <p:spPr>
          <a:xfrm>
            <a:off x="548640" y="4754880"/>
            <a:ext cx="5120640" cy="16002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Acento 15"/>
          <p:cNvSpPr/>
          <p:nvPr/>
        </p:nvSpPr>
        <p:spPr>
          <a:xfrm>
            <a:off x="548640" y="4754880"/>
            <a:ext cx="64008" cy="16002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6" name="Texto tarjeta 16"/>
          <p:cNvSpPr/>
          <p:nvPr/>
        </p:nvSpPr>
        <p:spPr>
          <a:xfrm>
            <a:off x="640080" y="4754880"/>
            <a:ext cx="50292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1E8449"/>
                </a:solidFill>
              </a:rPr>
              <a:t>RESOLUCIÓN TOPOGRÁFICA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QGeoidCOL2023 incorpora gravimetría aerotransportada reciente, y el efecto topográfico se modela por síntesis armónica esférica (dV_ELL_Earth2014 y ERTM2160).</a:t>
            </a:r>
            <a:endParaRPr lang="es-CO" sz="1400" dirty="0"/>
          </a:p>
        </p:txBody>
      </p:sp>
      <p:sp>
        <p:nvSpPr>
          <p:cNvPr id="17" name="Pantallazo 17"/>
          <p:cNvSpPr/>
          <p:nvPr/>
        </p:nvSpPr>
        <p:spPr>
          <a:xfrm>
            <a:off x="5943600" y="1691640"/>
            <a:ext cx="5696712" cy="466344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12 del informe (diferencias por punto con GeoCol2004 y EGM2008) ]</a:t>
            </a:r>
            <a:endParaRPr lang="es-CO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10 · CONTROL DE CAMPO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Coherencia con la nivelación geométrica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Altura de cada modelo menos la altura nivelada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11</a:t>
            </a:r>
            <a:endParaRPr lang="es-CO" sz="1100" dirty="0"/>
          </a:p>
        </p:txBody>
      </p:sp>
      <p:graphicFrame>
        <p:nvGraphicFramePr>
          <p:cNvPr id="8" name="Tabla 8"/>
          <p:cNvGraphicFramePr>
            <a:graphicFrameLocks noGrp="1"/>
          </p:cNvGraphicFramePr>
          <p:nvPr/>
        </p:nvGraphicFramePr>
        <p:xfrm>
          <a:off x="548640" y="1691640"/>
          <a:ext cx="6858000" cy="2304288"/>
        </p:xfrm>
        <a:graphic>
          <a:graphicData uri="http://schemas.openxmlformats.org/drawingml/2006/table">
            <a:tbl>
              <a:tblPr firstRow="1" bandRow="1"/>
              <a:tblGrid>
                <a:gridCol w="1839951"/>
                <a:gridCol w="1421780"/>
                <a:gridCol w="1170878"/>
                <a:gridCol w="1254512"/>
                <a:gridCol w="1170878"/>
              </a:tblGrid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Punto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H nivelada (m)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QGeoid (cm)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EGM2008 (cm)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1" dirty="0">
                          <a:solidFill>
                            <a:srgbClr val="FFFFFF"/>
                          </a:solidFill>
                        </a:rPr>
                        <a:t>GeoCol (cm)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P1 (Guajira)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48,434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−1,8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−5,0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−75,1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P2 (Córdoba)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95,573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+15,9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+39,3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−83,8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P3 (N. Sant.)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3216,550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+65,2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+44,6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−342,0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P4 (Bogotá)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2702,640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−61,9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−38,9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−391,8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P5 (Arauca)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184,956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+1,0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+70,6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300" b="0" dirty="0">
                          <a:solidFill>
                            <a:srgbClr val="1B2631"/>
                          </a:solidFill>
                        </a:rPr>
                        <a:t>−157,4</a:t>
                      </a:r>
                      <a:endParaRPr lang="es-CO" sz="13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rjeta 9"/>
          <p:cNvSpPr/>
          <p:nvPr/>
        </p:nvSpPr>
        <p:spPr>
          <a:xfrm>
            <a:off x="548640" y="4224528"/>
            <a:ext cx="3337560" cy="2130552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Acento 10"/>
          <p:cNvSpPr/>
          <p:nvPr/>
        </p:nvSpPr>
        <p:spPr>
          <a:xfrm>
            <a:off x="548640" y="4224528"/>
            <a:ext cx="64008" cy="213055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1" name="Texto tarjeta 11"/>
          <p:cNvSpPr/>
          <p:nvPr/>
        </p:nvSpPr>
        <p:spPr>
          <a:xfrm>
            <a:off x="640080" y="4224528"/>
            <a:ext cx="3246120" cy="2130552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1E8449"/>
                </a:solidFill>
              </a:rPr>
              <a:t>PUNTOS BAJOS (P1, P2, P5)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1" dirty="0">
                <a:solidFill>
                  <a:srgbClr val="1B2631"/>
                </a:solidFill>
              </a:rPr>
              <a:t>RMS 9,3 cm</a:t>
            </a:r>
            <a:r>
              <a:rPr lang="es-CO" sz="1400" b="0" dirty="0">
                <a:solidFill>
                  <a:srgbClr val="1B2631"/>
                </a:solidFill>
              </a:rPr>
              <a:t> con QGeoid, frente a 46,7 cm (EGM2008) y 111,7 cm (GeoCol2004).</a:t>
            </a:r>
            <a:endParaRPr lang="es-CO" sz="1400" dirty="0"/>
          </a:p>
        </p:txBody>
      </p:sp>
      <p:sp>
        <p:nvSpPr>
          <p:cNvPr id="12" name="Tarjeta 12"/>
          <p:cNvSpPr/>
          <p:nvPr/>
        </p:nvSpPr>
        <p:spPr>
          <a:xfrm>
            <a:off x="4069080" y="4224528"/>
            <a:ext cx="3337560" cy="2130552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Acento 13"/>
          <p:cNvSpPr/>
          <p:nvPr/>
        </p:nvSpPr>
        <p:spPr>
          <a:xfrm>
            <a:off x="4069080" y="4224528"/>
            <a:ext cx="64008" cy="21305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4" name="Texto tarjeta 14"/>
          <p:cNvSpPr/>
          <p:nvPr/>
        </p:nvSpPr>
        <p:spPr>
          <a:xfrm>
            <a:off x="4160520" y="4224528"/>
            <a:ext cx="3246120" cy="2130552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E67E22"/>
                </a:solidFill>
              </a:rPr>
              <a:t>MONTAÑA (P3, P4)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~60 cm, del mismo signo que EGM2008: componente común a ambos modelos o a los datos.</a:t>
            </a:r>
            <a:endParaRPr lang="es-CO" sz="1400" dirty="0"/>
          </a:p>
        </p:txBody>
      </p:sp>
      <p:sp>
        <p:nvSpPr>
          <p:cNvPr id="15" name="Pantallazo 15"/>
          <p:cNvSpPr/>
          <p:nvPr/>
        </p:nvSpPr>
        <p:spPr>
          <a:xfrm>
            <a:off x="7680960" y="1691640"/>
            <a:ext cx="3959352" cy="466344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13 del informe (alturas de cada modelo menos la nivelada) ]</a:t>
            </a:r>
            <a:endParaRPr lang="es-CO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11 · SISTEMAS DE MAREAS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Tres convenciones para la marea permanente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El Sol y la Luna deforman la Tierra de forma permanente: ¿cómo se trata ese efecto?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12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3575304" cy="370332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3703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tarjeta 10"/>
          <p:cNvSpPr/>
          <p:nvPr/>
        </p:nvSpPr>
        <p:spPr>
          <a:xfrm>
            <a:off x="640080" y="1691640"/>
            <a:ext cx="3483864" cy="3703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E67E22"/>
                </a:solidFill>
              </a:rPr>
              <a:t>MEAN TIDE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2000" b="1" dirty="0">
                <a:solidFill>
                  <a:srgbClr val="002060"/>
                </a:solidFill>
              </a:rPr>
              <a:t>Marea media</a:t>
            </a:r>
            <a:endParaRPr lang="es-CO" sz="2000" dirty="0"/>
          </a:p>
          <a:p>
            <a:pPr algn="l">
              <a:spcBef>
                <a:spcPts val="400"/>
              </a:spcBef>
              <a:buNone/>
            </a:pPr>
            <a:r>
              <a:rPr lang="es-CO" sz="1600" b="0" dirty="0">
                <a:solidFill>
                  <a:srgbClr val="1B2631"/>
                </a:solidFill>
              </a:rPr>
              <a:t>Se conserva la deformación permanente de la corteza, y el potencial incluye el promedio del potencial generador de mareas.</a:t>
            </a:r>
            <a:endParaRPr lang="es-CO" sz="1600" dirty="0"/>
          </a:p>
          <a:p>
            <a:pPr algn="l">
              <a:spcBef>
                <a:spcPts val="1400"/>
              </a:spcBef>
              <a:buNone/>
            </a:pPr>
            <a:r>
              <a:rPr lang="es-CO" sz="1600" b="1" dirty="0">
                <a:solidFill>
                  <a:srgbClr val="002060"/>
                </a:solidFill>
              </a:rPr>
              <a:t>Alturas niveladas H</a:t>
            </a:r>
            <a:endParaRPr lang="es-CO" sz="1600" dirty="0"/>
          </a:p>
        </p:txBody>
      </p:sp>
      <p:sp>
        <p:nvSpPr>
          <p:cNvPr id="11" name="Tarjeta 11"/>
          <p:cNvSpPr/>
          <p:nvPr/>
        </p:nvSpPr>
        <p:spPr>
          <a:xfrm>
            <a:off x="4306824" y="1691640"/>
            <a:ext cx="3575304" cy="3703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2" name="Acento 12"/>
          <p:cNvSpPr/>
          <p:nvPr/>
        </p:nvSpPr>
        <p:spPr>
          <a:xfrm>
            <a:off x="4306824" y="1691640"/>
            <a:ext cx="64008" cy="3703320"/>
          </a:xfrm>
          <a:prstGeom prst="rect">
            <a:avLst/>
          </a:prstGeom>
          <a:solidFill>
            <a:srgbClr val="5F6B7A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Texto tarjeta 13"/>
          <p:cNvSpPr/>
          <p:nvPr/>
        </p:nvSpPr>
        <p:spPr>
          <a:xfrm>
            <a:off x="4398264" y="1691640"/>
            <a:ext cx="3483864" cy="3703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5F6B7A"/>
                </a:solidFill>
              </a:rPr>
              <a:t>TIDE FREE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2000" b="1" dirty="0">
                <a:solidFill>
                  <a:srgbClr val="002060"/>
                </a:solidFill>
              </a:rPr>
              <a:t>Libre de marea</a:t>
            </a:r>
            <a:endParaRPr lang="es-CO" sz="2000" dirty="0"/>
          </a:p>
          <a:p>
            <a:pPr algn="l">
              <a:spcBef>
                <a:spcPts val="400"/>
              </a:spcBef>
              <a:buNone/>
            </a:pPr>
            <a:r>
              <a:rPr lang="es-CO" sz="1600" b="0" dirty="0">
                <a:solidFill>
                  <a:srgbClr val="1B2631"/>
                </a:solidFill>
              </a:rPr>
              <a:t>Se eliminan el potencial generador de mareas y la deformación permanente que produce.</a:t>
            </a:r>
            <a:endParaRPr lang="es-CO" sz="1600" dirty="0"/>
          </a:p>
          <a:p>
            <a:pPr algn="l">
              <a:spcBef>
                <a:spcPts val="1400"/>
              </a:spcBef>
              <a:buNone/>
            </a:pPr>
            <a:r>
              <a:rPr lang="es-CO" sz="1600" b="1" dirty="0">
                <a:solidFill>
                  <a:srgbClr val="002060"/>
                </a:solidFill>
              </a:rPr>
              <a:t>Alturas GNSS h · EGM2008</a:t>
            </a:r>
            <a:endParaRPr lang="es-CO" sz="1600" dirty="0"/>
          </a:p>
        </p:txBody>
      </p:sp>
      <p:sp>
        <p:nvSpPr>
          <p:cNvPr id="14" name="Tarjeta 14"/>
          <p:cNvSpPr/>
          <p:nvPr/>
        </p:nvSpPr>
        <p:spPr>
          <a:xfrm>
            <a:off x="8065008" y="1691640"/>
            <a:ext cx="3575304" cy="370332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Acento 15"/>
          <p:cNvSpPr/>
          <p:nvPr/>
        </p:nvSpPr>
        <p:spPr>
          <a:xfrm>
            <a:off x="8065008" y="1691640"/>
            <a:ext cx="64008" cy="37033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6" name="Texto tarjeta 16"/>
          <p:cNvSpPr/>
          <p:nvPr/>
        </p:nvSpPr>
        <p:spPr>
          <a:xfrm>
            <a:off x="8156448" y="1691640"/>
            <a:ext cx="3483864" cy="37033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1E8449"/>
                </a:solidFill>
              </a:rPr>
              <a:t>ZERO TIDE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2000" b="1" dirty="0">
                <a:solidFill>
                  <a:srgbClr val="002060"/>
                </a:solidFill>
              </a:rPr>
              <a:t>Marea cero</a:t>
            </a:r>
            <a:endParaRPr lang="es-CO" sz="2000" dirty="0"/>
          </a:p>
          <a:p>
            <a:pPr algn="l">
              <a:spcBef>
                <a:spcPts val="400"/>
              </a:spcBef>
              <a:buNone/>
            </a:pPr>
            <a:r>
              <a:rPr lang="es-CO" sz="1600" b="0" dirty="0">
                <a:solidFill>
                  <a:srgbClr val="1B2631"/>
                </a:solidFill>
              </a:rPr>
              <a:t>Se elimina la atracción directa del Sol y la Luna, pero se conserva la deformación que ya causaron.</a:t>
            </a:r>
            <a:endParaRPr lang="es-CO" sz="1600" dirty="0"/>
          </a:p>
          <a:p>
            <a:pPr algn="l">
              <a:spcBef>
                <a:spcPts val="1400"/>
              </a:spcBef>
              <a:buNone/>
            </a:pPr>
            <a:r>
              <a:rPr lang="es-CO" sz="1600" b="1" dirty="0">
                <a:solidFill>
                  <a:srgbClr val="002060"/>
                </a:solidFill>
              </a:rPr>
              <a:t>IHRS · QGeoidCOL2023</a:t>
            </a:r>
            <a:endParaRPr lang="es-CO" sz="1600" dirty="0"/>
          </a:p>
        </p:txBody>
      </p:sp>
      <p:sp>
        <p:nvSpPr>
          <p:cNvPr id="17" name="Ecuación 17"/>
          <p:cNvSpPr/>
          <p:nvPr/>
        </p:nvSpPr>
        <p:spPr>
          <a:xfrm>
            <a:off x="548640" y="5623560"/>
            <a:ext cx="11091672" cy="68580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9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Para comparar h, H y N deben estar en la misma convención → todo se lleva a zero tide</a:t>
            </a:r>
            <a:endParaRPr lang="es-CO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12 · HERRAMIENTA EN PYTHON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Red Nacional de Nivelación: datos y depuración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650" b="0" dirty="0">
                <a:solidFill>
                  <a:srgbClr val="5F6B7A"/>
                </a:solidFill>
              </a:rPr>
              <a:t>parametrico1.py (núcleo de cálculo) + parametrico2.py (interfaz de 7 pestañas) · solo biblioteca estándar</a:t>
            </a:r>
            <a:endParaRPr lang="es-CO" sz="165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13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5852160" cy="1280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tarjeta 10"/>
          <p:cNvSpPr/>
          <p:nvPr/>
        </p:nvSpPr>
        <p:spPr>
          <a:xfrm>
            <a:off x="640080" y="1691640"/>
            <a:ext cx="5760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DATOS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1" dirty="0">
                <a:solidFill>
                  <a:srgbClr val="1B2631"/>
                </a:solidFill>
              </a:rPr>
              <a:t>4272 puntos</a:t>
            </a:r>
            <a:r>
              <a:rPr lang="es-CO" sz="1400" b="0" dirty="0">
                <a:solidFill>
                  <a:srgbClr val="1B2631"/>
                </a:solidFill>
              </a:rPr>
              <a:t> de la Red Nacional de Nivelación (IGAC) con h y H.</a:t>
            </a:r>
            <a:endParaRPr lang="es-CO" sz="14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Mallas: QGeoidCOL2023 (5′) y EGM2008 (2′, ICGEM).</a:t>
            </a:r>
            <a:endParaRPr lang="es-CO" sz="1400" dirty="0"/>
          </a:p>
        </p:txBody>
      </p:sp>
      <p:sp>
        <p:nvSpPr>
          <p:cNvPr id="11" name="Tarjeta 11"/>
          <p:cNvSpPr/>
          <p:nvPr/>
        </p:nvSpPr>
        <p:spPr>
          <a:xfrm>
            <a:off x="548640" y="3154680"/>
            <a:ext cx="5852160" cy="12801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2" name="Acento 12"/>
          <p:cNvSpPr/>
          <p:nvPr/>
        </p:nvSpPr>
        <p:spPr>
          <a:xfrm>
            <a:off x="548640" y="3154680"/>
            <a:ext cx="64008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Texto tarjeta 13"/>
          <p:cNvSpPr/>
          <p:nvPr/>
        </p:nvSpPr>
        <p:spPr>
          <a:xfrm>
            <a:off x="640080" y="3154680"/>
            <a:ext cx="5760720" cy="1280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CORRECCIÓN A ZERO TIDE (GUIMARÃES ET AL., 2025)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h (tide free): </a:t>
            </a:r>
            <a:r>
              <a:rPr lang="es-CO" sz="1400" b="1" dirty="0">
                <a:solidFill>
                  <a:srgbClr val="1B2631"/>
                </a:solidFill>
              </a:rPr>
              <a:t>+5,3 a +6,0 cm</a:t>
            </a:r>
            <a:r>
              <a:rPr lang="es-CO" sz="1400" b="0" dirty="0">
                <a:solidFill>
                  <a:srgbClr val="1B2631"/>
                </a:solidFill>
              </a:rPr>
              <a:t> · H (mean tide): </a:t>
            </a:r>
            <a:r>
              <a:rPr lang="es-CO" sz="1400" b="1" dirty="0">
                <a:solidFill>
                  <a:srgbClr val="1B2631"/>
                </a:solidFill>
              </a:rPr>
              <a:t>+8,7 a +9,9 cm</a:t>
            </a:r>
            <a:endParaRPr lang="es-CO" sz="14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N de EGM2008 (tide free): </a:t>
            </a:r>
            <a:r>
              <a:rPr lang="es-CO" sz="1400" b="1" dirty="0">
                <a:solidFill>
                  <a:srgbClr val="1B2631"/>
                </a:solidFill>
              </a:rPr>
              <a:t>+2,6 a +3,0 cm</a:t>
            </a:r>
            <a:endParaRPr lang="es-CO" sz="1400" dirty="0"/>
          </a:p>
        </p:txBody>
      </p:sp>
      <p:sp>
        <p:nvSpPr>
          <p:cNvPr id="14" name="Tarjeta 14"/>
          <p:cNvSpPr/>
          <p:nvPr/>
        </p:nvSpPr>
        <p:spPr>
          <a:xfrm>
            <a:off x="548640" y="4617720"/>
            <a:ext cx="5852160" cy="17373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Acento 15"/>
          <p:cNvSpPr/>
          <p:nvPr/>
        </p:nvSpPr>
        <p:spPr>
          <a:xfrm>
            <a:off x="548640" y="4617720"/>
            <a:ext cx="64008" cy="17373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6" name="Texto tarjeta 16"/>
          <p:cNvSpPr/>
          <p:nvPr/>
        </p:nvSpPr>
        <p:spPr>
          <a:xfrm>
            <a:off x="640080" y="4617720"/>
            <a:ext cx="5760720" cy="17373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1E8449"/>
                </a:solidFill>
              </a:rPr>
              <a:t>DEPURACIÓN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400" b="1" dirty="0">
                <a:solidFill>
                  <a:srgbClr val="1B2631"/>
                </a:solidFill>
              </a:rPr>
              <a:t>4210 aceptados · 62 apartados:</a:t>
            </a:r>
            <a:r>
              <a:rPr lang="es-CO" sz="1400" b="0" dirty="0">
                <a:solidFill>
                  <a:srgbClr val="1B2631"/>
                </a:solidFill>
              </a:rPr>
              <a:t> 22 con h nula, 3 duplicados, 2 con |h − H| &gt; 150 m y 35 por error grueso (5 × desviación robusta). Todos quedan en puntos_rechazados.xlsx.</a:t>
            </a:r>
            <a:endParaRPr lang="es-CO" sz="1400" dirty="0"/>
          </a:p>
        </p:txBody>
      </p:sp>
      <p:sp>
        <p:nvSpPr>
          <p:cNvPr id="17" name="Pantallazo 17"/>
          <p:cNvSpPr/>
          <p:nvPr/>
        </p:nvSpPr>
        <p:spPr>
          <a:xfrm>
            <a:off x="6675120" y="1691640"/>
            <a:ext cx="4965192" cy="466344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11 del informe (malla EGM2008 con los puntos de la red) ]</a:t>
            </a:r>
            <a:endParaRPr lang="es-CO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13 · MODELO PARAMÉTRICO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050" b="1" dirty="0">
                <a:solidFill>
                  <a:srgbClr val="002060"/>
                </a:solidFill>
              </a:rPr>
              <a:t>Discrepancia y modelo de desplazamiento e inclinación</a:t>
            </a:r>
            <a:endParaRPr lang="es-CO" sz="305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Basado en Guimarães et al. (2025)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14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5852160" cy="1417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10"/>
          <p:cNvSpPr/>
          <p:nvPr/>
        </p:nvSpPr>
        <p:spPr>
          <a:xfrm>
            <a:off x="749808" y="1764792"/>
            <a:ext cx="55778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950" b="1" dirty="0">
                <a:solidFill>
                  <a:srgbClr val="2E75B6"/>
                </a:solidFill>
              </a:rPr>
              <a:t>DISCREPANCIA</a:t>
            </a:r>
            <a:endParaRPr lang="es-CO" sz="950" dirty="0"/>
          </a:p>
        </p:txBody>
      </p:sp>
      <p:sp>
        <p:nvSpPr>
          <p:cNvPr id="11" name="Ecuación 11"/>
          <p:cNvSpPr/>
          <p:nvPr/>
        </p:nvSpPr>
        <p:spPr>
          <a:xfrm>
            <a:off x="822960" y="2039112"/>
            <a:ext cx="5349240" cy="50292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20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l = h − H − N</a:t>
            </a:r>
            <a:endParaRPr lang="es-CO" sz="2000" dirty="0"/>
          </a:p>
        </p:txBody>
      </p:sp>
      <p:sp>
        <p:nvSpPr>
          <p:cNvPr id="12" name="Texto tarjeta 12"/>
          <p:cNvSpPr/>
          <p:nvPr/>
        </p:nvSpPr>
        <p:spPr>
          <a:xfrm>
            <a:off x="640080" y="2587752"/>
            <a:ext cx="5760720" cy="502920"/>
          </a:xfrm>
          <a:prstGeom prst="rect">
            <a:avLst/>
          </a:prstGeom>
          <a:noFill/>
          <a:ln>
            <a:noFill/>
          </a:ln>
        </p:spPr>
        <p:txBody>
          <a:bodyPr wrap="square" lIns="109728" tIns="36576" rIns="109728" bIns="36576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0" dirty="0">
                <a:solidFill>
                  <a:srgbClr val="1B2631"/>
                </a:solidFill>
              </a:rPr>
              <a:t>Si las tres alturas fueran exactas, l sería constante: el desplazamiento del datum.</a:t>
            </a:r>
            <a:endParaRPr lang="es-CO" sz="1200" dirty="0"/>
          </a:p>
        </p:txBody>
      </p:sp>
      <p:sp>
        <p:nvSpPr>
          <p:cNvPr id="13" name="Tarjeta 13"/>
          <p:cNvSpPr/>
          <p:nvPr/>
        </p:nvSpPr>
        <p:spPr>
          <a:xfrm>
            <a:off x="548640" y="3246120"/>
            <a:ext cx="5852160" cy="1463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4" name="Acento 14"/>
          <p:cNvSpPr/>
          <p:nvPr/>
        </p:nvSpPr>
        <p:spPr>
          <a:xfrm>
            <a:off x="548640" y="3246120"/>
            <a:ext cx="64008" cy="1463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Texto 15"/>
          <p:cNvSpPr/>
          <p:nvPr/>
        </p:nvSpPr>
        <p:spPr>
          <a:xfrm>
            <a:off x="749808" y="3319272"/>
            <a:ext cx="55778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950" b="1" dirty="0">
                <a:solidFill>
                  <a:srgbClr val="2E75B6"/>
                </a:solidFill>
              </a:rPr>
              <a:t>MODELO (MÍNIMOS CUADRADOS, P = I)</a:t>
            </a:r>
            <a:endParaRPr lang="es-CO" sz="950" dirty="0"/>
          </a:p>
        </p:txBody>
      </p:sp>
      <p:sp>
        <p:nvSpPr>
          <p:cNvPr id="16" name="Ecuación 16"/>
          <p:cNvSpPr/>
          <p:nvPr/>
        </p:nvSpPr>
        <p:spPr>
          <a:xfrm>
            <a:off x="822960" y="3593592"/>
            <a:ext cx="5349240" cy="50292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8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l = δH + x</a:t>
            </a:r>
            <a:r>
              <a:rPr lang="es-CO" sz="1800" b="0" dirty="0" baseline="-2500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lang="es-CO" sz="18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(φ − φ</a:t>
            </a:r>
            <a:r>
              <a:rPr lang="es-CO" sz="1800" b="0" dirty="0" baseline="-2500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lang="es-CO" sz="18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) + x</a:t>
            </a:r>
            <a:r>
              <a:rPr lang="es-CO" sz="1800" b="0" dirty="0" baseline="-2500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lang="es-CO" sz="18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(λ − λ</a:t>
            </a:r>
            <a:r>
              <a:rPr lang="es-CO" sz="1800" b="0" dirty="0" baseline="-2500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lang="es-CO" sz="18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) cos φ</a:t>
            </a:r>
            <a:endParaRPr lang="es-CO" sz="1800" dirty="0"/>
          </a:p>
        </p:txBody>
      </p:sp>
      <p:sp>
        <p:nvSpPr>
          <p:cNvPr id="17" name="Texto tarjeta 17"/>
          <p:cNvSpPr/>
          <p:nvPr/>
        </p:nvSpPr>
        <p:spPr>
          <a:xfrm>
            <a:off x="640080" y="4142232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36576" rIns="109728" bIns="36576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350" b="1" dirty="0">
                <a:solidFill>
                  <a:srgbClr val="1B2631"/>
                </a:solidFill>
              </a:rPr>
              <a:t>δH:</a:t>
            </a:r>
            <a:r>
              <a:rPr lang="es-CO" sz="1350" b="0" dirty="0">
                <a:solidFill>
                  <a:srgbClr val="1B2631"/>
                </a:solidFill>
              </a:rPr>
              <a:t> desplazamiento del datum · </a:t>
            </a:r>
            <a:r>
              <a:rPr lang="es-CO" sz="1350" b="1" dirty="0">
                <a:solidFill>
                  <a:srgbClr val="1B2631"/>
                </a:solidFill>
              </a:rPr>
              <a:t>x</a:t>
            </a:r>
            <a:r>
              <a:rPr lang="es-CO" sz="1350" b="1" dirty="0" baseline="-25000">
                <a:solidFill>
                  <a:srgbClr val="1B2631"/>
                </a:solidFill>
              </a:rPr>
              <a:t>1</a:t>
            </a:r>
            <a:r>
              <a:rPr lang="es-CO" sz="1350" b="1" dirty="0">
                <a:solidFill>
                  <a:srgbClr val="1B2631"/>
                </a:solidFill>
              </a:rPr>
              <a:t>, x</a:t>
            </a:r>
            <a:r>
              <a:rPr lang="es-CO" sz="1350" b="1" dirty="0" baseline="-25000">
                <a:solidFill>
                  <a:srgbClr val="1B2631"/>
                </a:solidFill>
              </a:rPr>
              <a:t>2</a:t>
            </a:r>
            <a:r>
              <a:rPr lang="es-CO" sz="1350" b="1" dirty="0">
                <a:solidFill>
                  <a:srgbClr val="1B2631"/>
                </a:solidFill>
              </a:rPr>
              <a:t>:</a:t>
            </a:r>
            <a:r>
              <a:rPr lang="es-CO" sz="1350" b="0" dirty="0">
                <a:solidFill>
                  <a:srgbClr val="1B2631"/>
                </a:solidFill>
              </a:rPr>
              <a:t> inclinaciones N–S y E–O.</a:t>
            </a:r>
            <a:endParaRPr lang="es-CO" sz="1350" dirty="0"/>
          </a:p>
        </p:txBody>
      </p:sp>
      <p:sp>
        <p:nvSpPr>
          <p:cNvPr id="18" name="Tarjeta 18"/>
          <p:cNvSpPr/>
          <p:nvPr/>
        </p:nvSpPr>
        <p:spPr>
          <a:xfrm>
            <a:off x="548640" y="4846320"/>
            <a:ext cx="5852160" cy="15087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9" name="Acento 19"/>
          <p:cNvSpPr/>
          <p:nvPr/>
        </p:nvSpPr>
        <p:spPr>
          <a:xfrm>
            <a:off x="548640" y="4846320"/>
            <a:ext cx="64008" cy="15087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0" name="Texto 20"/>
          <p:cNvSpPr/>
          <p:nvPr/>
        </p:nvSpPr>
        <p:spPr>
          <a:xfrm>
            <a:off x="749808" y="4919472"/>
            <a:ext cx="55778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950" b="1" dirty="0">
                <a:solidFill>
                  <a:srgbClr val="1E8449"/>
                </a:solidFill>
              </a:rPr>
              <a:t>SELECCIÓN</a:t>
            </a:r>
            <a:endParaRPr lang="es-CO" sz="950" dirty="0"/>
          </a:p>
        </p:txBody>
      </p:sp>
      <p:sp>
        <p:nvSpPr>
          <p:cNvPr id="21" name="Ecuación 21"/>
          <p:cNvSpPr/>
          <p:nvPr/>
        </p:nvSpPr>
        <p:spPr>
          <a:xfrm>
            <a:off x="822960" y="5193792"/>
            <a:ext cx="5349240" cy="502920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8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R²</a:t>
            </a:r>
            <a:r>
              <a:rPr lang="es-CO" sz="1800" b="0" dirty="0" baseline="-2500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aj</a:t>
            </a:r>
            <a:r>
              <a:rPr lang="es-CO" sz="1800" b="0" dirty="0">
                <a:solidFill>
                  <a:srgbClr val="1B2631"/>
                </a:solidFill>
                <a:latin typeface="Cambria Math"/>
                <a:ea typeface="Cambria Math"/>
                <a:cs typeface="Cambria Math"/>
              </a:rPr>
              <a:t> = 1 − (1 − R²)(n − 1)/(n − u)</a:t>
            </a:r>
            <a:endParaRPr lang="es-CO" sz="1800" dirty="0"/>
          </a:p>
        </p:txBody>
      </p:sp>
      <p:sp>
        <p:nvSpPr>
          <p:cNvPr id="22" name="Texto tarjeta 22"/>
          <p:cNvSpPr/>
          <p:nvPr/>
        </p:nvSpPr>
        <p:spPr>
          <a:xfrm>
            <a:off x="640080" y="5742432"/>
            <a:ext cx="5760720" cy="5943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36576" rIns="109728" bIns="36576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Mejor método: mayor R²</a:t>
            </a:r>
            <a:r>
              <a:rPr lang="es-CO" sz="1400" b="0" dirty="0" baseline="-25000">
                <a:solidFill>
                  <a:srgbClr val="1B2631"/>
                </a:solidFill>
              </a:rPr>
              <a:t>aj</a:t>
            </a:r>
            <a:r>
              <a:rPr lang="es-CO" sz="1400" b="0" dirty="0">
                <a:solidFill>
                  <a:srgbClr val="1B2631"/>
                </a:solidFill>
              </a:rPr>
              <a:t>. En el kriging, el semivariograma se elige por menor SSRw.</a:t>
            </a:r>
            <a:endParaRPr lang="es-CO" sz="1400" dirty="0"/>
          </a:p>
        </p:txBody>
      </p:sp>
      <p:sp>
        <p:nvSpPr>
          <p:cNvPr id="23" name="Pantallazo 23"/>
          <p:cNvSpPr/>
          <p:nvPr/>
        </p:nvSpPr>
        <p:spPr>
          <a:xfrm>
            <a:off x="6675120" y="1691640"/>
            <a:ext cx="4965192" cy="466344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Figura 10 del informe (semivariograma del kriging ordinario) ]</a:t>
            </a:r>
            <a:endParaRPr lang="es-CO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14 · RESULTADOS DEL MODELO PARAMÉTRICO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El datum de Buenaventura frente a cada geoide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n = 4210 puntos · todos los datos en zero tide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15</a:t>
            </a:r>
            <a:endParaRPr lang="es-CO" sz="1100" dirty="0"/>
          </a:p>
        </p:txBody>
      </p:sp>
      <p:graphicFrame>
        <p:nvGraphicFramePr>
          <p:cNvPr id="8" name="Tabla 8"/>
          <p:cNvGraphicFramePr>
            <a:graphicFrameLocks noGrp="1"/>
          </p:cNvGraphicFramePr>
          <p:nvPr/>
        </p:nvGraphicFramePr>
        <p:xfrm>
          <a:off x="548640" y="1691640"/>
          <a:ext cx="6035040" cy="2194560"/>
        </p:xfrm>
        <a:graphic>
          <a:graphicData uri="http://schemas.openxmlformats.org/drawingml/2006/table">
            <a:tbl>
              <a:tblPr firstRow="1" bandRow="1"/>
              <a:tblGrid>
                <a:gridCol w="2263140"/>
                <a:gridCol w="1885950"/>
                <a:gridCol w="1885950"/>
              </a:tblGrid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QGeoidCOL2023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FFFFFF"/>
                          </a:solidFill>
                        </a:rPr>
                        <a:t>EGM2008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1E8449"/>
                          </a:solidFill>
                        </a:rPr>
                        <a:t>Mejor método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1E8449"/>
                          </a:solidFill>
                        </a:rPr>
                        <a:t>Bicúbica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D5F5E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1" dirty="0">
                          <a:solidFill>
                            <a:srgbClr val="1E8449"/>
                          </a:solidFill>
                        </a:rPr>
                        <a:t>Bicúbica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D5F5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R²</a:t>
                      </a:r>
                      <a:r>
                        <a:rPr lang="es-CO" sz="1400" b="0" dirty="0" baseline="-25000">
                          <a:solidFill>
                            <a:srgbClr val="1B2631"/>
                          </a:solidFill>
                        </a:rPr>
                        <a:t>aj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0,205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0,392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δH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0,18 m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1,07 m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σ</a:t>
                      </a:r>
                      <a:r>
                        <a:rPr lang="es-CO" sz="1400" b="0" dirty="0" baseline="-25000">
                          <a:solidFill>
                            <a:srgbClr val="1B2631"/>
                          </a:solidFill>
                        </a:rPr>
                        <a:t>0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0,23 m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0,33 m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x</a:t>
                      </a:r>
                      <a:r>
                        <a:rPr lang="es-CO" sz="1400" b="0" dirty="0" baseline="-25000">
                          <a:solidFill>
                            <a:srgbClr val="1B2631"/>
                          </a:solidFill>
                        </a:rPr>
                        <a:t>1</a:t>
                      </a: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 (N–S)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−4 cm/°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buNone/>
                      </a:pPr>
                      <a:r>
                        <a:rPr lang="es-CO" sz="1400" b="0" dirty="0">
                          <a:solidFill>
                            <a:srgbClr val="1B2631"/>
                          </a:solidFill>
                        </a:rPr>
                        <a:t>−9 cm/°</a:t>
                      </a:r>
                      <a:endParaRPr lang="es-CO" sz="1400" dirty="0"/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rjeta 9"/>
          <p:cNvSpPr/>
          <p:nvPr/>
        </p:nvSpPr>
        <p:spPr>
          <a:xfrm>
            <a:off x="548640" y="4069080"/>
            <a:ext cx="60350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Acento 10"/>
          <p:cNvSpPr/>
          <p:nvPr/>
        </p:nvSpPr>
        <p:spPr>
          <a:xfrm>
            <a:off x="548640" y="4069080"/>
            <a:ext cx="64008" cy="2286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1" name="Texto tarjeta 11"/>
          <p:cNvSpPr/>
          <p:nvPr/>
        </p:nvSpPr>
        <p:spPr>
          <a:xfrm>
            <a:off x="640080" y="4069080"/>
            <a:ext cx="5943600" cy="22860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 marL="228600" indent="-228600">
              <a:spcBef>
                <a:spcPts val="400"/>
              </a:spcBef>
              <a:buFont typeface="Arial"/>
              <a:buChar char="•"/>
            </a:pPr>
            <a:r>
              <a:rPr lang="es-CO" sz="1400" b="0" dirty="0">
                <a:solidFill>
                  <a:srgbClr val="1B2631"/>
                </a:solidFill>
              </a:rPr>
              <a:t>Con EGM2008 el datum queda </a:t>
            </a:r>
            <a:r>
              <a:rPr lang="es-CO" sz="1400" b="1" dirty="0">
                <a:solidFill>
                  <a:srgbClr val="1B2631"/>
                </a:solidFill>
              </a:rPr>
              <a:t>~1,07 m</a:t>
            </a:r>
            <a:r>
              <a:rPr lang="es-CO" sz="1400" b="0" dirty="0">
                <a:solidFill>
                  <a:srgbClr val="1B2631"/>
                </a:solidFill>
              </a:rPr>
              <a:t> sobre el geoide; Guimarães et al. reportan </a:t>
            </a:r>
            <a:r>
              <a:rPr lang="es-CO" sz="1400" b="1" dirty="0">
                <a:solidFill>
                  <a:srgbClr val="1B2631"/>
                </a:solidFill>
              </a:rPr>
              <a:t>0,99 ± 0,03 m</a:t>
            </a:r>
            <a:r>
              <a:rPr lang="es-CO" sz="1400" b="0" dirty="0">
                <a:solidFill>
                  <a:srgbClr val="1B2631"/>
                </a:solidFill>
              </a:rPr>
              <a:t> para Colombia.</a:t>
            </a:r>
            <a:endParaRPr lang="es-CO" sz="1400" dirty="0"/>
          </a:p>
          <a:p>
            <a:pPr algn="l" marL="228600" indent="-228600">
              <a:spcBef>
                <a:spcPts val="400"/>
              </a:spcBef>
              <a:buFont typeface="Arial"/>
              <a:buChar char="•"/>
            </a:pPr>
            <a:r>
              <a:rPr lang="es-CO" sz="1400" b="0" dirty="0">
                <a:solidFill>
                  <a:srgbClr val="1B2631"/>
                </a:solidFill>
              </a:rPr>
              <a:t>QGeoidCOL2023 absorbe casi todo el desplazamiento y deja </a:t>
            </a:r>
            <a:r>
              <a:rPr lang="es-CO" sz="1400" b="1" dirty="0">
                <a:solidFill>
                  <a:srgbClr val="1B2631"/>
                </a:solidFill>
              </a:rPr>
              <a:t>menor dispersión</a:t>
            </a:r>
            <a:r>
              <a:rPr lang="es-CO" sz="1400" b="0" dirty="0">
                <a:solidFill>
                  <a:srgbClr val="1B2631"/>
                </a:solidFill>
              </a:rPr>
              <a:t>.</a:t>
            </a:r>
            <a:endParaRPr lang="es-CO" sz="1400" dirty="0"/>
          </a:p>
          <a:p>
            <a:pPr algn="l" marL="228600" indent="-228600">
              <a:spcBef>
                <a:spcPts val="400"/>
              </a:spcBef>
              <a:buFont typeface="Arial"/>
              <a:buChar char="•"/>
            </a:pPr>
            <a:r>
              <a:rPr lang="es-CO" sz="1400" b="0" dirty="0">
                <a:solidFill>
                  <a:srgbClr val="1B2631"/>
                </a:solidFill>
              </a:rPr>
              <a:t>La inclinación N–S sugiere acumulación de errores de nivelación desde el datum.</a:t>
            </a:r>
            <a:endParaRPr lang="es-CO" sz="1400" dirty="0"/>
          </a:p>
        </p:txBody>
      </p:sp>
      <p:sp>
        <p:nvSpPr>
          <p:cNvPr id="12" name="Pantallazo 12"/>
          <p:cNvSpPr/>
          <p:nvPr/>
        </p:nvSpPr>
        <p:spPr>
          <a:xfrm>
            <a:off x="6858000" y="1691640"/>
            <a:ext cx="4782312" cy="4663440"/>
          </a:xfrm>
          <a:prstGeom prst="rect">
            <a:avLst/>
          </a:prstGeom>
          <a:solidFill>
            <a:srgbClr val="FAFBFC"/>
          </a:solidFill>
          <a:ln w="28575">
            <a:solidFill>
              <a:srgbClr val="9AA5B1"/>
            </a:solidFill>
            <a:prstDash val="dash"/>
          </a:ln>
        </p:spPr>
        <p:txBody>
          <a:bodyPr wrap="square" lIns="137160" tIns="73152" rIns="137160" bIns="73152" anchor="ctr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600" b="1" dirty="0">
                <a:solidFill>
                  <a:srgbClr val="5F6B7A"/>
                </a:solidFill>
              </a:rPr>
              <a:t>[ Agregar pantallazo: Tablas 17 y 18 del informe o la pestaña «Resultados» de la interfaz de Python ]</a:t>
            </a:r>
            <a:endParaRPr lang="es-CO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15 · SÍNTESIS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MATLAB vs. Python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0" dirty="0">
                <a:solidFill>
                  <a:srgbClr val="5F6B7A"/>
                </a:solidFill>
              </a:rPr>
              <a:t>Dos criterios independientes, una misma conclusión</a:t>
            </a:r>
            <a:endParaRPr lang="es-CO" sz="1700" dirty="0"/>
          </a:p>
        </p:txBody>
      </p:sp>
      <p:sp>
        <p:nvSpPr>
          <p:cNvPr id="7" name="Texto 7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16</a:t>
            </a:r>
            <a:endParaRPr lang="es-CO" sz="1100" dirty="0"/>
          </a:p>
        </p:txBody>
      </p:sp>
      <p:sp>
        <p:nvSpPr>
          <p:cNvPr id="8" name="Tarjeta 8"/>
          <p:cNvSpPr/>
          <p:nvPr/>
        </p:nvSpPr>
        <p:spPr>
          <a:xfrm>
            <a:off x="548640" y="1691640"/>
            <a:ext cx="3575304" cy="4663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Acento 9"/>
          <p:cNvSpPr/>
          <p:nvPr/>
        </p:nvSpPr>
        <p:spPr>
          <a:xfrm>
            <a:off x="548640" y="1691640"/>
            <a:ext cx="64008" cy="4663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0" name="Texto tarjeta 10"/>
          <p:cNvSpPr/>
          <p:nvPr/>
        </p:nvSpPr>
        <p:spPr>
          <a:xfrm>
            <a:off x="640080" y="1691640"/>
            <a:ext cx="3483864" cy="46634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MATLAB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900" b="1" dirty="0">
                <a:solidFill>
                  <a:srgbClr val="002060"/>
                </a:solidFill>
              </a:rPr>
              <a:t>Contra la propia malla</a:t>
            </a:r>
            <a:endParaRPr lang="es-CO" sz="19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Validación cruzada por decimación.</a:t>
            </a:r>
            <a:endParaRPr lang="es-CO" sz="1500" dirty="0"/>
          </a:p>
          <a:p>
            <a:pPr algn="l">
              <a:spcBef>
                <a:spcPts val="2400"/>
              </a:spcBef>
              <a:buNone/>
            </a:pPr>
            <a:r>
              <a:rPr lang="es-CO" sz="4000" b="1" dirty="0">
                <a:solidFill>
                  <a:srgbClr val="1E8449"/>
                </a:solidFill>
              </a:rPr>
              <a:t>58 mm</a:t>
            </a:r>
            <a:endParaRPr lang="es-CO" sz="4000" dirty="0"/>
          </a:p>
          <a:p>
            <a:pPr algn="l">
              <a:spcBef>
                <a:spcPts val="400"/>
              </a:spcBef>
              <a:buNone/>
            </a:pPr>
            <a:r>
              <a:rPr lang="es-CO" sz="1300" b="0" dirty="0">
                <a:solidFill>
                  <a:srgbClr val="5F6B7A"/>
                </a:solidFill>
              </a:rPr>
              <a:t>RMSE de la bicúbica</a:t>
            </a:r>
            <a:endParaRPr lang="es-CO" sz="1300" dirty="0"/>
          </a:p>
        </p:txBody>
      </p:sp>
      <p:sp>
        <p:nvSpPr>
          <p:cNvPr id="11" name="Tarjeta 11"/>
          <p:cNvSpPr/>
          <p:nvPr/>
        </p:nvSpPr>
        <p:spPr>
          <a:xfrm>
            <a:off x="4306824" y="1691640"/>
            <a:ext cx="3575304" cy="46634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2" name="Acento 12"/>
          <p:cNvSpPr/>
          <p:nvPr/>
        </p:nvSpPr>
        <p:spPr>
          <a:xfrm>
            <a:off x="4306824" y="1691640"/>
            <a:ext cx="64008" cy="4663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3" name="Texto tarjeta 13"/>
          <p:cNvSpPr/>
          <p:nvPr/>
        </p:nvSpPr>
        <p:spPr>
          <a:xfrm>
            <a:off x="4398264" y="1691640"/>
            <a:ext cx="3483864" cy="46634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s-CO" sz="1100" b="1" dirty="0">
                <a:solidFill>
                  <a:srgbClr val="2E75B6"/>
                </a:solidFill>
              </a:rPr>
              <a:t>PYTHON</a:t>
            </a:r>
            <a:endParaRPr lang="es-CO" sz="1100" dirty="0"/>
          </a:p>
          <a:p>
            <a:pPr algn="l">
              <a:spcBef>
                <a:spcPts val="400"/>
              </a:spcBef>
              <a:buNone/>
            </a:pPr>
            <a:r>
              <a:rPr lang="es-CO" sz="1900" b="1" dirty="0">
                <a:solidFill>
                  <a:srgbClr val="002060"/>
                </a:solidFill>
              </a:rPr>
              <a:t>Contra la nivelación</a:t>
            </a:r>
            <a:endParaRPr lang="es-CO" sz="1900" dirty="0"/>
          </a:p>
          <a:p>
            <a:pPr algn="l">
              <a:spcBef>
                <a:spcPts val="400"/>
              </a:spcBef>
              <a:buNone/>
            </a:pPr>
            <a:r>
              <a:rPr lang="es-CO" sz="1500" b="0" dirty="0">
                <a:solidFill>
                  <a:srgbClr val="1B2631"/>
                </a:solidFill>
              </a:rPr>
              <a:t>Ajuste de l = h − H − N en 4210 puntos.</a:t>
            </a:r>
            <a:endParaRPr lang="es-CO" sz="1500" dirty="0"/>
          </a:p>
          <a:p>
            <a:pPr algn="l">
              <a:spcBef>
                <a:spcPts val="2400"/>
              </a:spcBef>
              <a:buNone/>
            </a:pPr>
            <a:r>
              <a:rPr lang="es-CO" sz="3400" b="1" dirty="0">
                <a:solidFill>
                  <a:srgbClr val="1E8449"/>
                </a:solidFill>
              </a:rPr>
              <a:t>0,205 · 0,392</a:t>
            </a:r>
            <a:endParaRPr lang="es-CO" sz="3400" dirty="0"/>
          </a:p>
          <a:p>
            <a:pPr algn="l">
              <a:spcBef>
                <a:spcPts val="400"/>
              </a:spcBef>
              <a:buNone/>
            </a:pPr>
            <a:r>
              <a:rPr lang="es-CO" sz="1300" b="0" dirty="0">
                <a:solidFill>
                  <a:srgbClr val="5F6B7A"/>
                </a:solidFill>
              </a:rPr>
              <a:t>R²</a:t>
            </a:r>
            <a:r>
              <a:rPr lang="es-CO" sz="1300" b="0" dirty="0" baseline="-25000">
                <a:solidFill>
                  <a:srgbClr val="5F6B7A"/>
                </a:solidFill>
              </a:rPr>
              <a:t>aj</a:t>
            </a:r>
            <a:r>
              <a:rPr lang="es-CO" sz="1300" b="0" dirty="0">
                <a:solidFill>
                  <a:srgbClr val="5F6B7A"/>
                </a:solidFill>
              </a:rPr>
              <a:t> de la bicúbica (QGeoid · EGM2008)</a:t>
            </a:r>
            <a:endParaRPr lang="es-CO" sz="1300" dirty="0"/>
          </a:p>
        </p:txBody>
      </p:sp>
      <p:sp>
        <p:nvSpPr>
          <p:cNvPr id="14" name="Tarjeta 14"/>
          <p:cNvSpPr/>
          <p:nvPr/>
        </p:nvSpPr>
        <p:spPr>
          <a:xfrm>
            <a:off x="8065008" y="1691640"/>
            <a:ext cx="3575304" cy="143256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Acento 15"/>
          <p:cNvSpPr/>
          <p:nvPr/>
        </p:nvSpPr>
        <p:spPr>
          <a:xfrm>
            <a:off x="8065008" y="1691640"/>
            <a:ext cx="64008" cy="143256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6" name="Texto tarjeta 16"/>
          <p:cNvSpPr/>
          <p:nvPr/>
        </p:nvSpPr>
        <p:spPr>
          <a:xfrm>
            <a:off x="8156448" y="1691640"/>
            <a:ext cx="3483864" cy="1432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Ambos eligen la </a:t>
            </a:r>
            <a:r>
              <a:rPr lang="es-CO" sz="1400" b="1" dirty="0">
                <a:solidFill>
                  <a:srgbClr val="1B2631"/>
                </a:solidFill>
              </a:rPr>
              <a:t>bicúbica</a:t>
            </a:r>
            <a:r>
              <a:rPr lang="es-CO" sz="1400" b="0" dirty="0">
                <a:solidFill>
                  <a:srgbClr val="1B2631"/>
                </a:solidFill>
              </a:rPr>
              <a:t>, y con QGeoidCOL2023 el </a:t>
            </a:r>
            <a:r>
              <a:rPr lang="es-CO" sz="1400" b="1" dirty="0">
                <a:solidFill>
                  <a:srgbClr val="1B2631"/>
                </a:solidFill>
              </a:rPr>
              <a:t>orden de los 6 métodos es el mismo</a:t>
            </a:r>
            <a:r>
              <a:rPr lang="es-CO" sz="1400" b="0" dirty="0">
                <a:solidFill>
                  <a:srgbClr val="1B2631"/>
                </a:solidFill>
              </a:rPr>
              <a:t>.</a:t>
            </a:r>
            <a:endParaRPr lang="es-CO" sz="1400" dirty="0"/>
          </a:p>
        </p:txBody>
      </p:sp>
      <p:sp>
        <p:nvSpPr>
          <p:cNvPr id="17" name="Tarjeta 17"/>
          <p:cNvSpPr/>
          <p:nvPr/>
        </p:nvSpPr>
        <p:spPr>
          <a:xfrm>
            <a:off x="8065008" y="3307080"/>
            <a:ext cx="3575304" cy="143256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8" name="Acento 18"/>
          <p:cNvSpPr/>
          <p:nvPr/>
        </p:nvSpPr>
        <p:spPr>
          <a:xfrm>
            <a:off x="8065008" y="3307080"/>
            <a:ext cx="64008" cy="1432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9" name="Texto tarjeta 19"/>
          <p:cNvSpPr/>
          <p:nvPr/>
        </p:nvSpPr>
        <p:spPr>
          <a:xfrm>
            <a:off x="8156448" y="3307080"/>
            <a:ext cx="3483864" cy="1432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Única diferencia: el IDW con el p óptimo para la malla (p = 6) no mejora frente a la nivelación.</a:t>
            </a:r>
            <a:endParaRPr lang="es-CO" sz="1400" dirty="0"/>
          </a:p>
        </p:txBody>
      </p:sp>
      <p:sp>
        <p:nvSpPr>
          <p:cNvPr id="20" name="Tarjeta 20"/>
          <p:cNvSpPr/>
          <p:nvPr/>
        </p:nvSpPr>
        <p:spPr>
          <a:xfrm>
            <a:off x="8065008" y="4922520"/>
            <a:ext cx="3575304" cy="14325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1" name="Acento 21"/>
          <p:cNvSpPr/>
          <p:nvPr/>
        </p:nvSpPr>
        <p:spPr>
          <a:xfrm>
            <a:off x="8065008" y="4922520"/>
            <a:ext cx="64008" cy="14325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2" name="Texto tarjeta 22"/>
          <p:cNvSpPr/>
          <p:nvPr/>
        </p:nvSpPr>
        <p:spPr>
          <a:xfrm>
            <a:off x="8156448" y="4922520"/>
            <a:ext cx="3483864" cy="1432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El método mueve δH ≤ </a:t>
            </a:r>
            <a:r>
              <a:rPr lang="es-CO" sz="1400" b="1" dirty="0">
                <a:solidFill>
                  <a:srgbClr val="1B2631"/>
                </a:solidFill>
              </a:rPr>
              <a:t>1,4 cm</a:t>
            </a:r>
            <a:r>
              <a:rPr lang="es-CO" sz="1400" b="0" dirty="0">
                <a:solidFill>
                  <a:srgbClr val="1B2631"/>
                </a:solidFill>
              </a:rPr>
              <a:t>; el modelo lo cambia de </a:t>
            </a:r>
            <a:r>
              <a:rPr lang="es-CO" sz="1400" b="1" dirty="0">
                <a:solidFill>
                  <a:srgbClr val="1B2631"/>
                </a:solidFill>
              </a:rPr>
              <a:t>0,18 m a 1,07 m</a:t>
            </a:r>
            <a:r>
              <a:rPr lang="es-CO" sz="1400" b="0" dirty="0">
                <a:solidFill>
                  <a:srgbClr val="1B2631"/>
                </a:solidFill>
              </a:rPr>
              <a:t>.</a:t>
            </a:r>
            <a:endParaRPr lang="es-CO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rra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200" b="1" dirty="0">
                <a:solidFill>
                  <a:srgbClr val="2E75B6"/>
                </a:solidFill>
              </a:rPr>
              <a:t>16 · CONCLUSIONES</a:t>
            </a:r>
            <a:endParaRPr lang="es-CO" sz="1200" dirty="0"/>
          </a:p>
        </p:txBody>
      </p:sp>
      <p:sp>
        <p:nvSpPr>
          <p:cNvPr id="5" name="Texto 5"/>
          <p:cNvSpPr/>
          <p:nvPr/>
        </p:nvSpPr>
        <p:spPr>
          <a:xfrm>
            <a:off x="548640" y="530352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3200" b="1" dirty="0">
                <a:solidFill>
                  <a:srgbClr val="002060"/>
                </a:solidFill>
              </a:rPr>
              <a:t>Conclusiones</a:t>
            </a:r>
            <a:endParaRPr lang="es-CO" sz="3200" dirty="0"/>
          </a:p>
        </p:txBody>
      </p:sp>
      <p:sp>
        <p:nvSpPr>
          <p:cNvPr id="6" name="Texto 6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5F6B7A"/>
                </a:solidFill>
              </a:rPr>
              <a:t>17</a:t>
            </a:r>
            <a:endParaRPr lang="es-CO" sz="1100" dirty="0"/>
          </a:p>
        </p:txBody>
      </p:sp>
      <p:sp>
        <p:nvSpPr>
          <p:cNvPr id="7" name="Tarjeta 7"/>
          <p:cNvSpPr/>
          <p:nvPr/>
        </p:nvSpPr>
        <p:spPr>
          <a:xfrm>
            <a:off x="548640" y="1325880"/>
            <a:ext cx="5431536" cy="1325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8" name="Acento 8"/>
          <p:cNvSpPr/>
          <p:nvPr/>
        </p:nvSpPr>
        <p:spPr>
          <a:xfrm>
            <a:off x="548640" y="1325880"/>
            <a:ext cx="64008" cy="1325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9" name="Texto tarjeta 9"/>
          <p:cNvSpPr/>
          <p:nvPr/>
        </p:nvSpPr>
        <p:spPr>
          <a:xfrm>
            <a:off x="640080" y="1325880"/>
            <a:ext cx="5340096" cy="1325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1" dirty="0">
                <a:solidFill>
                  <a:srgbClr val="002060"/>
                </a:solidFill>
              </a:rPr>
              <a:t>1. Jerarquía del impacto</a:t>
            </a:r>
            <a:endParaRPr lang="es-CO" sz="17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La elección del modelo cambia la altura entre decímetros y metros; el método de interpolación, solo centímetros.</a:t>
            </a:r>
            <a:endParaRPr lang="es-CO" sz="1400" dirty="0"/>
          </a:p>
        </p:txBody>
      </p:sp>
      <p:sp>
        <p:nvSpPr>
          <p:cNvPr id="10" name="Tarjeta 10"/>
          <p:cNvSpPr/>
          <p:nvPr/>
        </p:nvSpPr>
        <p:spPr>
          <a:xfrm>
            <a:off x="6208776" y="1325880"/>
            <a:ext cx="5431536" cy="132588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1" name="Acento 11"/>
          <p:cNvSpPr/>
          <p:nvPr/>
        </p:nvSpPr>
        <p:spPr>
          <a:xfrm>
            <a:off x="6208776" y="1325880"/>
            <a:ext cx="64008" cy="132588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2" name="Texto tarjeta 12"/>
          <p:cNvSpPr/>
          <p:nvPr/>
        </p:nvSpPr>
        <p:spPr>
          <a:xfrm>
            <a:off x="6300216" y="1325880"/>
            <a:ext cx="5340096" cy="1325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1" dirty="0">
                <a:solidFill>
                  <a:srgbClr val="002060"/>
                </a:solidFill>
              </a:rPr>
              <a:t>2. Mejor método</a:t>
            </a:r>
            <a:endParaRPr lang="es-CO" sz="17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La bicúbica es la mejor con los dos criterios (malla y nivelación). La bilineal es la alternativa simple y trazable.</a:t>
            </a:r>
            <a:endParaRPr lang="es-CO" sz="1400" dirty="0"/>
          </a:p>
        </p:txBody>
      </p:sp>
      <p:sp>
        <p:nvSpPr>
          <p:cNvPr id="13" name="Tarjeta 13"/>
          <p:cNvSpPr/>
          <p:nvPr/>
        </p:nvSpPr>
        <p:spPr>
          <a:xfrm>
            <a:off x="548640" y="2834640"/>
            <a:ext cx="5431536" cy="1325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4" name="Acento 14"/>
          <p:cNvSpPr/>
          <p:nvPr/>
        </p:nvSpPr>
        <p:spPr>
          <a:xfrm>
            <a:off x="548640" y="2834640"/>
            <a:ext cx="64008" cy="1325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5" name="Texto tarjeta 15"/>
          <p:cNvSpPr/>
          <p:nvPr/>
        </p:nvSpPr>
        <p:spPr>
          <a:xfrm>
            <a:off x="640080" y="2834640"/>
            <a:ext cx="5340096" cy="1325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1" dirty="0">
                <a:solidFill>
                  <a:srgbClr val="002060"/>
                </a:solidFill>
              </a:rPr>
              <a:t>3. Sustitución de GeoCol2004</a:t>
            </a:r>
            <a:endParaRPr lang="es-CO" sz="17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QGeoidCOL2023 corrige el sesgo de ~2 m de GeoCol2004 y está referido al IHRS.</a:t>
            </a:r>
            <a:endParaRPr lang="es-CO" sz="1400" dirty="0"/>
          </a:p>
        </p:txBody>
      </p:sp>
      <p:sp>
        <p:nvSpPr>
          <p:cNvPr id="16" name="Tarjeta 16"/>
          <p:cNvSpPr/>
          <p:nvPr/>
        </p:nvSpPr>
        <p:spPr>
          <a:xfrm>
            <a:off x="6208776" y="2834640"/>
            <a:ext cx="5431536" cy="1325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7" name="Acento 17"/>
          <p:cNvSpPr/>
          <p:nvPr/>
        </p:nvSpPr>
        <p:spPr>
          <a:xfrm>
            <a:off x="6208776" y="2834640"/>
            <a:ext cx="64008" cy="1325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18" name="Texto tarjeta 18"/>
          <p:cNvSpPr/>
          <p:nvPr/>
        </p:nvSpPr>
        <p:spPr>
          <a:xfrm>
            <a:off x="6300216" y="2834640"/>
            <a:ext cx="5340096" cy="1325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1" dirty="0">
                <a:solidFill>
                  <a:srgbClr val="002060"/>
                </a:solidFill>
              </a:rPr>
              <a:t>4. Red Nacional de Nivelación</a:t>
            </a:r>
            <a:endParaRPr lang="es-CO" sz="17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QGeoidCOL2023 la describe mejor que EGM2008 (δH 0,18 m vs. 1,07 m, menor dispersión). El datum vertical está ~1 m desplazado del geoide global.</a:t>
            </a:r>
            <a:endParaRPr lang="es-CO" sz="1400" dirty="0"/>
          </a:p>
        </p:txBody>
      </p:sp>
      <p:sp>
        <p:nvSpPr>
          <p:cNvPr id="19" name="Tarjeta 19"/>
          <p:cNvSpPr/>
          <p:nvPr/>
        </p:nvSpPr>
        <p:spPr>
          <a:xfrm>
            <a:off x="548640" y="4343400"/>
            <a:ext cx="11091672" cy="2011680"/>
          </a:xfrm>
          <a:prstGeom prst="rect">
            <a:avLst/>
          </a:prstGeom>
          <a:solidFill>
            <a:srgbClr val="FBF1F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0" name="Acento 20"/>
          <p:cNvSpPr/>
          <p:nvPr/>
        </p:nvSpPr>
        <p:spPr>
          <a:xfrm>
            <a:off x="548640" y="4343400"/>
            <a:ext cx="64008" cy="201168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21" name="Texto tarjeta 21"/>
          <p:cNvSpPr/>
          <p:nvPr/>
        </p:nvSpPr>
        <p:spPr>
          <a:xfrm>
            <a:off x="640080" y="4343400"/>
            <a:ext cx="11000232" cy="20116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73152" rIns="109728" bIns="73152" anchor="t" rtlCol="0">
            <a:noAutofit/>
          </a:bodyPr>
          <a:lstStyle/>
          <a:p>
            <a:pPr algn="l">
              <a:spcBef>
                <a:spcPts val="400"/>
              </a:spcBef>
              <a:buNone/>
            </a:pPr>
            <a:r>
              <a:rPr lang="es-CO" sz="1700" b="1" dirty="0">
                <a:solidFill>
                  <a:srgbClr val="002060"/>
                </a:solidFill>
              </a:rPr>
              <a:t>5. Limitaciones</a:t>
            </a:r>
            <a:endParaRPr lang="es-CO" sz="1700" dirty="0"/>
          </a:p>
          <a:p>
            <a:pPr algn="l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1B2631"/>
                </a:solidFill>
              </a:rPr>
              <a:t>Cinco puntos de control no bastan para estimar la exactitud de los modelos; en montaña las diferencias son de decímetros y la red conserva inclinaciones sistemáticas.</a:t>
            </a:r>
            <a:endParaRPr lang="es-CO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ndo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137160" tIns="73152" rIns="137160" bIns="73152" anchor="t" rtlCol="0">
            <a:noAutofit/>
          </a:bodyPr>
          <a:lstStyle/>
          <a:p>
            <a:endParaRPr lang="es-CO" sz="1400" dirty="0"/>
          </a:p>
        </p:txBody>
      </p:sp>
      <p:sp>
        <p:nvSpPr>
          <p:cNvPr id="4" name="Texto 4"/>
          <p:cNvSpPr/>
          <p:nvPr/>
        </p:nvSpPr>
        <p:spPr>
          <a:xfrm>
            <a:off x="731520" y="2103120"/>
            <a:ext cx="10728655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5000" b="1" dirty="0">
                <a:solidFill>
                  <a:srgbClr val="FFFFFF"/>
                </a:solidFill>
              </a:rPr>
              <a:t>¡Gracias por su atención!</a:t>
            </a:r>
            <a:endParaRPr lang="es-CO" sz="5000" dirty="0"/>
          </a:p>
        </p:txBody>
      </p:sp>
      <p:sp>
        <p:nvSpPr>
          <p:cNvPr id="5" name="Texto 5"/>
          <p:cNvSpPr/>
          <p:nvPr/>
        </p:nvSpPr>
        <p:spPr>
          <a:xfrm>
            <a:off x="1097280" y="3657600"/>
            <a:ext cx="9997135" cy="2103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400"/>
              </a:spcBef>
              <a:buNone/>
            </a:pPr>
            <a:r>
              <a:rPr lang="es-CO" sz="1400" b="0" dirty="0">
                <a:solidFill>
                  <a:srgbClr val="D6E4F0"/>
                </a:solidFill>
              </a:rPr>
              <a:t>Guimarães, G. N. et al. (2025). High-resolution regional gravity field modeling to connect the local vertical systems in South America to the IHRF. Earth, Planets and Space, 77, 98.</a:t>
            </a:r>
            <a:endParaRPr lang="es-CO" sz="1400" dirty="0"/>
          </a:p>
          <a:p>
            <a:pPr algn="ctr">
              <a:spcBef>
                <a:spcPts val="800"/>
              </a:spcBef>
              <a:buNone/>
            </a:pPr>
            <a:r>
              <a:rPr lang="es-CO" sz="1400" b="0" dirty="0">
                <a:solidFill>
                  <a:srgbClr val="D6E4F0"/>
                </a:solidFill>
              </a:rPr>
              <a:t>Liu, Q. et al. (2024). Documento técnico de QGeoidCOL2023. Earth, Planets and Space, 76, 35.</a:t>
            </a:r>
            <a:endParaRPr lang="es-CO" sz="1400" dirty="0"/>
          </a:p>
          <a:p>
            <a:pPr algn="ctr">
              <a:spcBef>
                <a:spcPts val="800"/>
              </a:spcBef>
              <a:buNone/>
            </a:pPr>
            <a:r>
              <a:rPr lang="es-CO" sz="1400" b="0" dirty="0">
                <a:solidFill>
                  <a:srgbClr val="D6E4F0"/>
                </a:solidFill>
              </a:rPr>
              <a:t>Datos: IGAC – Red Geodésica Nacional · ICGEM (GFZ Potsdam) · Pavlis et al. (2012), EGM2008.</a:t>
            </a:r>
            <a:endParaRPr lang="es-CO" sz="1400" dirty="0"/>
          </a:p>
        </p:txBody>
      </p:sp>
      <p:sp>
        <p:nvSpPr>
          <p:cNvPr id="6" name="Texto 6"/>
          <p:cNvSpPr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r">
              <a:spcBef>
                <a:spcPts val="400"/>
              </a:spcBef>
              <a:buNone/>
            </a:pPr>
            <a:r>
              <a:rPr lang="es-CO" sz="1100" b="0" dirty="0">
                <a:solidFill>
                  <a:srgbClr val="9FC5E8"/>
                </a:solidFill>
              </a:rPr>
              <a:t>18</a:t>
            </a:r>
            <a:endParaRPr lang="es-CO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upo2">
  <a:themeElements>
    <a:clrScheme name="Grupo2">
      <a:dk1>
        <a:srgbClr val="1B2631"/>
      </a:dk1>
      <a:lt1>
        <a:srgbClr val="FFFFFF"/>
      </a:lt1>
      <a:dk2>
        <a:srgbClr val="002060"/>
      </a:dk2>
      <a:lt2>
        <a:srgbClr val="F4F6F9"/>
      </a:lt2>
      <a:accent1>
        <a:srgbClr val="2E75B6"/>
      </a:accent1>
      <a:accent2>
        <a:srgbClr val="1E8449"/>
      </a:accent2>
      <a:accent3>
        <a:srgbClr val="E67E22"/>
      </a:accent3>
      <a:accent4>
        <a:srgbClr val="B03A2E"/>
      </a:accent4>
      <a:accent5>
        <a:srgbClr val="5F6B7A"/>
      </a:accent5>
      <a:accent6>
        <a:srgbClr val="9FC5E8"/>
      </a:accent6>
      <a:hlink>
        <a:srgbClr val="2E75B6"/>
      </a:hlink>
      <a:folHlink>
        <a:srgbClr val="7030A0"/>
      </a:folHlink>
    </a:clrScheme>
    <a:fontScheme name="Grupo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Grupo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18</Slides>
  <PresentationFormat>Panorámica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QGeoidCOL2023 — Grupo 2</dc:title>
  <dc:creator>Grupo 2</dc:creator>
  <dcterms:created xsi:type="dcterms:W3CDTF">2026-10-17T00:00:00Z</dcterms:created>
  <dcterms:modified xsi:type="dcterms:W3CDTF">2026-10-17T00:00:00Z</dcterms:modified>
</cp:coreProperties>
</file>